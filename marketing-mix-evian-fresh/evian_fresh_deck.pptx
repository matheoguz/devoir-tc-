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722815" y="29260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8A8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IUT LE CREUSOT</a:t>
            </a:r>
            <a:endParaRPr lang="en-US" sz="900" dirty="0"/>
          </a:p>
        </p:txBody>
      </p:sp>
      <p:pic>
        <p:nvPicPr>
          <p:cNvPr id="3" name="Image 0" descr="/tmp/claude-0/-home-user/795a3683-a2d5-55e1-80ef-99492ab8aef4/scratchpad/deck/img/3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0" y="320040"/>
            <a:ext cx="4663440" cy="304241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2834640"/>
            <a:ext cx="6400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7600" b="1" i="1" dirty="0">
                <a:solidFill>
                  <a:srgbClr val="F6F1E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evian</a:t>
            </a:r>
            <a:endParaRPr lang="en-US" sz="76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7600" b="1" i="1" dirty="0">
                <a:solidFill>
                  <a:srgbClr val="C65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“fresh”</a:t>
            </a:r>
            <a:endParaRPr lang="en-US" sz="7600" dirty="0"/>
          </a:p>
        </p:txBody>
      </p:sp>
      <p:sp>
        <p:nvSpPr>
          <p:cNvPr id="5" name="Shape 2"/>
          <p:cNvSpPr/>
          <p:nvPr/>
        </p:nvSpPr>
        <p:spPr>
          <a:xfrm>
            <a:off x="594360" y="5715000"/>
            <a:ext cx="2194560" cy="0"/>
          </a:xfrm>
          <a:prstGeom prst="line">
            <a:avLst/>
          </a:prstGeom>
          <a:noFill/>
          <a:ln w="19050">
            <a:solidFill>
              <a:srgbClr val="AD8A54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59893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B4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Paul PEREIRA · Ilan CHIABRI · Louca MATOS · Arthur CATHERIN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9265615" y="5989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9B4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Année 2025-2026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722815" y="29260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9C97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IUT LE CREUSOT</a:t>
            </a:r>
            <a:endParaRPr lang="en-US" sz="900" dirty="0"/>
          </a:p>
        </p:txBody>
      </p:sp>
      <p:pic>
        <p:nvPicPr>
          <p:cNvPr id="3" name="Image 0" descr="/tmp/claude-0/-home-user/795a3683-a2d5-55e1-80ef-99492ab8aef4/scratchpad/deck/img/3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17320"/>
            <a:ext cx="4160520" cy="271431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0" y="82296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1618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Sommaire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5486400" y="23774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65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6309360" y="237744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du Marché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5486400" y="3035808"/>
            <a:ext cx="5852160" cy="0"/>
          </a:xfrm>
          <a:prstGeom prst="line">
            <a:avLst/>
          </a:prstGeom>
          <a:noFill/>
          <a:ln w="9525">
            <a:solidFill>
              <a:srgbClr val="DCD4C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0" y="31546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65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6309360" y="315468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Stratégie Marketing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5486400" y="3813048"/>
            <a:ext cx="5852160" cy="0"/>
          </a:xfrm>
          <a:prstGeom prst="line">
            <a:avLst/>
          </a:prstGeom>
          <a:noFill/>
          <a:ln w="9525">
            <a:solidFill>
              <a:srgbClr val="DCD4C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486400" y="39319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65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2" name="Text 9"/>
          <p:cNvSpPr txBox="1"/>
          <p:nvPr/>
        </p:nvSpPr>
        <p:spPr>
          <a:xfrm>
            <a:off x="6309360" y="393192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Mix Marketing</a:t>
            </a:r>
            <a:endParaRPr lang="en-US" sz="1900" dirty="0"/>
          </a:p>
        </p:txBody>
      </p:sp>
      <p:sp>
        <p:nvSpPr>
          <p:cNvPr id="13" name="Shape 10"/>
          <p:cNvSpPr/>
          <p:nvPr/>
        </p:nvSpPr>
        <p:spPr>
          <a:xfrm>
            <a:off x="5486400" y="4590288"/>
            <a:ext cx="5852160" cy="0"/>
          </a:xfrm>
          <a:prstGeom prst="line">
            <a:avLst/>
          </a:prstGeom>
          <a:noFill/>
          <a:ln w="9525">
            <a:solidFill>
              <a:srgbClr val="DCD4C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486400" y="47091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65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6309360" y="470916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900" dirty="0"/>
          </a:p>
        </p:txBody>
      </p:sp>
      <p:sp>
        <p:nvSpPr>
          <p:cNvPr id="16" name="Text 13"/>
          <p:cNvSpPr txBox="1"/>
          <p:nvPr/>
        </p:nvSpPr>
        <p:spPr>
          <a:xfrm>
            <a:off x="11368735" y="6473952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97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02920" y="6510528"/>
            <a:ext cx="10728655" cy="0"/>
          </a:xfrm>
          <a:prstGeom prst="line">
            <a:avLst/>
          </a:prstGeom>
          <a:noFill/>
          <a:ln w="9525">
            <a:solidFill>
              <a:srgbClr val="DCD4C2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863840" y="-548640"/>
            <a:ext cx="45720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0" b="1" dirty="0">
                <a:solidFill>
                  <a:srgbClr val="1F21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2000" dirty="0"/>
          </a:p>
        </p:txBody>
      </p:sp>
      <p:sp>
        <p:nvSpPr>
          <p:cNvPr id="3" name="Shape 1"/>
          <p:cNvSpPr/>
          <p:nvPr/>
        </p:nvSpPr>
        <p:spPr>
          <a:xfrm>
            <a:off x="9784080" y="5120640"/>
            <a:ext cx="1737360" cy="1737360"/>
          </a:xfrm>
          <a:prstGeom prst="ellipse">
            <a:avLst/>
          </a:prstGeom>
          <a:solidFill>
            <a:srgbClr val="C6543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2697480"/>
            <a:ext cx="8778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5600" b="1" dirty="0">
                <a:solidFill>
                  <a:srgbClr val="F6F1E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Analyse de</a:t>
            </a:r>
            <a:endParaRPr lang="en-US" sz="5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5600" b="1" dirty="0">
                <a:solidFill>
                  <a:srgbClr val="F6F1E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Marché</a:t>
            </a:r>
            <a:endParaRPr lang="en-US" sz="5600" dirty="0"/>
          </a:p>
        </p:txBody>
      </p:sp>
      <p:sp>
        <p:nvSpPr>
          <p:cNvPr id="5" name="Shape 3"/>
          <p:cNvSpPr/>
          <p:nvPr/>
        </p:nvSpPr>
        <p:spPr>
          <a:xfrm>
            <a:off x="594360" y="4892040"/>
            <a:ext cx="2377440" cy="0"/>
          </a:xfrm>
          <a:prstGeom prst="line">
            <a:avLst/>
          </a:prstGeom>
          <a:noFill/>
          <a:ln w="19050">
            <a:solidFill>
              <a:srgbClr val="AD8A5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722815" y="29260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8A8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IUT LE CREUSOT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368735" y="6473952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AE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02920" y="6510528"/>
            <a:ext cx="10728655" cy="0"/>
          </a:xfrm>
          <a:prstGeom prst="line">
            <a:avLst/>
          </a:prstGeom>
          <a:noFill/>
          <a:ln w="9525">
            <a:solidFill>
              <a:srgbClr val="2A2C30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1618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Offre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722815" y="29260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9C97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IUT LE CREUSOT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46304" cy="146304"/>
          </a:xfrm>
          <a:prstGeom prst="rect">
            <a:avLst/>
          </a:prstGeom>
          <a:solidFill>
            <a:srgbClr val="C6543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04672" y="1847088"/>
            <a:ext cx="5138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30" kern="0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marché dominé par deux géants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258568"/>
            <a:ext cx="5394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8000"/>
              </a:lnSpc>
              <a:spcAft>
                <a:spcPts val="600"/>
              </a:spcAft>
              <a:buSzPct val="100000"/>
              <a:buChar char="–"/>
            </a:pPr>
            <a:r>
              <a:rPr lang="en-US" sz="125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Nestlé Waters : Perrier, Vittel, Contrex, San Pellegrino</a:t>
            </a:r>
            <a:endParaRPr lang="en-US" sz="1250" dirty="0"/>
          </a:p>
          <a:p>
            <a:pPr marL="177800" indent="-177800">
              <a:lnSpc>
                <a:spcPct val="118000"/>
              </a:lnSpc>
              <a:spcAft>
                <a:spcPts val="600"/>
              </a:spcAft>
              <a:buSzPct val="100000"/>
              <a:buChar char="–"/>
            </a:pPr>
            <a:r>
              <a:rPr lang="en-US" sz="125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Danone : evian, Volvic, Badoit</a:t>
            </a:r>
            <a:endParaRPr lang="en-US" sz="1250" dirty="0"/>
          </a:p>
          <a:p>
            <a:pPr marL="177800" indent="-177800">
              <a:lnSpc>
                <a:spcPct val="118000"/>
              </a:lnSpc>
              <a:spcAft>
                <a:spcPts val="600"/>
              </a:spcAft>
              <a:buSzPct val="100000"/>
              <a:buChar char="–"/>
            </a:pPr>
            <a:r>
              <a:rPr lang="en-US" sz="125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Marché très concentré : difficile pour un nouvel entrant de rivaliser en notoriété et en moyens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309360" y="1920240"/>
            <a:ext cx="146304" cy="146304"/>
          </a:xfrm>
          <a:prstGeom prst="rect">
            <a:avLst/>
          </a:prstGeom>
          <a:solidFill>
            <a:srgbClr val="C6543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565392" y="1847088"/>
            <a:ext cx="5138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30" kern="0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eaux plates aromatisées : un segment en plein essor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6309360" y="2258568"/>
            <a:ext cx="53949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8000"/>
              </a:lnSpc>
              <a:spcAft>
                <a:spcPts val="600"/>
              </a:spcAft>
              <a:buSzPct val="100000"/>
              <a:buChar char="–"/>
            </a:pPr>
            <a:r>
              <a:rPr lang="en-US" sz="125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Volvic : leader des eaux fruitées, croissance à deux chiffres en volume</a:t>
            </a:r>
            <a:endParaRPr lang="en-US" sz="1250" dirty="0"/>
          </a:p>
          <a:p>
            <a:pPr marL="177800" indent="-177800">
              <a:lnSpc>
                <a:spcPct val="118000"/>
              </a:lnSpc>
              <a:spcAft>
                <a:spcPts val="600"/>
              </a:spcAft>
              <a:buSzPct val="100000"/>
              <a:buChar char="–"/>
            </a:pPr>
            <a:r>
              <a:rPr lang="en-US" sz="125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Vittel Fruité : lancée en 2025, deux recettes au jus de fruit</a:t>
            </a:r>
            <a:endParaRPr lang="en-US" sz="1250" dirty="0"/>
          </a:p>
          <a:p>
            <a:pPr marL="177800" indent="-177800">
              <a:lnSpc>
                <a:spcPct val="118000"/>
              </a:lnSpc>
              <a:spcAft>
                <a:spcPts val="600"/>
              </a:spcAft>
              <a:buSzPct val="100000"/>
              <a:buChar char="–"/>
            </a:pPr>
            <a:r>
              <a:rPr lang="en-US" sz="125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Cristaline : gamme pomme-cassis-framboise, volumes doublés en une période</a:t>
            </a:r>
            <a:endParaRPr lang="en-US" sz="1250" dirty="0"/>
          </a:p>
          <a:p>
            <a:pPr marL="177800" indent="-177800">
              <a:lnSpc>
                <a:spcPct val="118000"/>
              </a:lnSpc>
              <a:spcAft>
                <a:spcPts val="600"/>
              </a:spcAft>
              <a:buSzPct val="100000"/>
              <a:buChar char="–"/>
            </a:pPr>
            <a:r>
              <a:rPr lang="en-US" sz="125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segment qui progresse plus vite que l'eau nature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11368735" y="6473952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97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" y="6510528"/>
            <a:ext cx="10728655" cy="0"/>
          </a:xfrm>
          <a:prstGeom prst="line">
            <a:avLst/>
          </a:prstGeom>
          <a:noFill/>
          <a:ln w="9525">
            <a:solidFill>
              <a:srgbClr val="DCD4C2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1618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Offre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722815" y="29260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9C97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IUT LE CREUSOT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46304" cy="146304"/>
          </a:xfrm>
          <a:prstGeom prst="rect">
            <a:avLst/>
          </a:prstGeom>
          <a:solidFill>
            <a:srgbClr val="C6543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04672" y="1847088"/>
            <a:ext cx="10351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30" kern="0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concurrence directe et indirecte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258568"/>
            <a:ext cx="106070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8000"/>
              </a:lnSpc>
              <a:spcAft>
                <a:spcPts val="600"/>
              </a:spcAft>
              <a:buSzPct val="100000"/>
              <a:buChar char="–"/>
            </a:pPr>
            <a:r>
              <a:rPr lang="en-US" sz="130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Directe : Volvic, Vittel Fruité, Cristaline, DASH, MDD</a:t>
            </a:r>
            <a:endParaRPr lang="en-US" sz="1300" dirty="0"/>
          </a:p>
          <a:p>
            <a:pPr marL="177800" indent="-177800">
              <a:lnSpc>
                <a:spcPct val="118000"/>
              </a:lnSpc>
              <a:spcAft>
                <a:spcPts val="600"/>
              </a:spcAft>
              <a:buSzPct val="100000"/>
              <a:buChar char="–"/>
            </a:pPr>
            <a:r>
              <a:rPr lang="en-US" sz="130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 : eau pétillante britannique, lancée en France en 2025, déjà dans 1 000 points de vente</a:t>
            </a:r>
            <a:endParaRPr lang="en-US" sz="1300" dirty="0"/>
          </a:p>
          <a:p>
            <a:pPr marL="177800" indent="-177800">
              <a:lnSpc>
                <a:spcPct val="118000"/>
              </a:lnSpc>
              <a:spcAft>
                <a:spcPts val="600"/>
              </a:spcAft>
              <a:buSzPct val="100000"/>
              <a:buChar char="–"/>
            </a:pPr>
            <a:r>
              <a:rPr lang="en-US" sz="130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Lidl : eaux pétillantes aromatisées en canette, à prix bas</a:t>
            </a:r>
            <a:endParaRPr lang="en-US" sz="1300" dirty="0"/>
          </a:p>
          <a:p>
            <a:pPr marL="177800" indent="-177800">
              <a:lnSpc>
                <a:spcPct val="118000"/>
              </a:lnSpc>
              <a:spcAft>
                <a:spcPts val="600"/>
              </a:spcAft>
              <a:buSzPct val="100000"/>
              <a:buChar char="–"/>
            </a:pPr>
            <a:r>
              <a:rPr lang="en-US" sz="130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Indirecte : sodas zéro, boissons sans sucre, thés glacés</a:t>
            </a:r>
            <a:endParaRPr lang="en-US" sz="1300" dirty="0"/>
          </a:p>
          <a:p>
            <a:pPr marL="177800" indent="-177800">
              <a:lnSpc>
                <a:spcPct val="118000"/>
              </a:lnSpc>
              <a:spcAft>
                <a:spcPts val="600"/>
              </a:spcAft>
              <a:buSzPct val="100000"/>
              <a:buChar char="–"/>
            </a:pPr>
            <a:r>
              <a:rPr lang="en-US" sz="130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Eau du robinet : gratuite et sans emballage, concurrent de fond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4709160"/>
            <a:ext cx="146304" cy="146304"/>
          </a:xfrm>
          <a:prstGeom prst="rect">
            <a:avLst/>
          </a:prstGeom>
          <a:solidFill>
            <a:srgbClr val="C6543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04672" y="4636008"/>
            <a:ext cx="10351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30" kern="0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circuits de distribution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047488"/>
            <a:ext cx="10607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8000"/>
              </a:lnSpc>
              <a:spcAft>
                <a:spcPts val="600"/>
              </a:spcAft>
              <a:buSzPct val="100000"/>
              <a:buChar char="–"/>
            </a:pPr>
            <a:r>
              <a:rPr lang="en-US" sz="130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GMS : circuit principal, environ 2,74 Md€ de ventes d'eaux en bouteille en 2024</a:t>
            </a:r>
            <a:endParaRPr lang="en-US" sz="1300" dirty="0"/>
          </a:p>
          <a:p>
            <a:pPr marL="177800" indent="-177800">
              <a:lnSpc>
                <a:spcPct val="118000"/>
              </a:lnSpc>
              <a:spcAft>
                <a:spcPts val="600"/>
              </a:spcAft>
              <a:buSzPct val="100000"/>
              <a:buChar char="–"/>
            </a:pPr>
            <a:r>
              <a:rPr lang="en-US" sz="130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 (restaurants, bars, cafés) : environ 550 M€</a:t>
            </a:r>
            <a:endParaRPr lang="en-US" sz="1300" dirty="0"/>
          </a:p>
          <a:p>
            <a:pPr marL="177800" indent="-177800">
              <a:lnSpc>
                <a:spcPct val="118000"/>
              </a:lnSpc>
              <a:spcAft>
                <a:spcPts val="600"/>
              </a:spcAft>
              <a:buSzPct val="100000"/>
              <a:buChar char="–"/>
            </a:pPr>
            <a:r>
              <a:rPr lang="en-US" sz="130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et drive : en progression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1368735" y="6473952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97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" y="6510528"/>
            <a:ext cx="10728655" cy="0"/>
          </a:xfrm>
          <a:prstGeom prst="line">
            <a:avLst/>
          </a:prstGeom>
          <a:noFill/>
          <a:ln w="9525">
            <a:solidFill>
              <a:srgbClr val="DCD4C2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1618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722815" y="29260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9C97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IUT LE CREUSOT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46304" cy="146304"/>
          </a:xfrm>
          <a:prstGeom prst="rect">
            <a:avLst/>
          </a:prstGeom>
          <a:solidFill>
            <a:srgbClr val="C6543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04672" y="1847088"/>
            <a:ext cx="5138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30" kern="0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marché de l'eau embouteillée massif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258568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8000"/>
              </a:lnSpc>
              <a:spcAft>
                <a:spcPts val="600"/>
              </a:spcAft>
              <a:buSzPct val="100000"/>
              <a:buChar char="–"/>
            </a:pPr>
            <a:r>
              <a:rPr lang="en-US" sz="130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135 litres d'eau en bouteille par an et par habitant en France</a:t>
            </a:r>
            <a:endParaRPr lang="en-US" sz="1300" dirty="0"/>
          </a:p>
          <a:p>
            <a:pPr marL="177800" indent="-177800">
              <a:lnSpc>
                <a:spcPct val="118000"/>
              </a:lnSpc>
              <a:spcAft>
                <a:spcPts val="600"/>
              </a:spcAft>
              <a:buSzPct val="100000"/>
              <a:buChar char="–"/>
            </a:pPr>
            <a:r>
              <a:rPr lang="en-US" sz="130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 2,5 Md€ de chiffre d'affaires pour l'eau nature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154680"/>
            <a:ext cx="146304" cy="146304"/>
          </a:xfrm>
          <a:prstGeom prst="rect">
            <a:avLst/>
          </a:prstGeom>
          <a:solidFill>
            <a:srgbClr val="C6543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04672" y="3081528"/>
            <a:ext cx="5138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30" kern="0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eaux aromatisées : un segment dynamique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493008"/>
            <a:ext cx="5394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8000"/>
              </a:lnSpc>
              <a:spcAft>
                <a:spcPts val="600"/>
              </a:spcAft>
              <a:buSzPct val="100000"/>
              <a:buChar char="–"/>
            </a:pPr>
            <a:r>
              <a:rPr lang="en-US" sz="130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199,5 M€ de chiffre d'affaires en 2024/2025</a:t>
            </a:r>
            <a:endParaRPr lang="en-US" sz="1300" dirty="0"/>
          </a:p>
          <a:p>
            <a:pPr marL="177800" indent="-177800">
              <a:lnSpc>
                <a:spcPct val="118000"/>
              </a:lnSpc>
              <a:spcAft>
                <a:spcPts val="600"/>
              </a:spcAft>
              <a:buSzPct val="100000"/>
              <a:buChar char="–"/>
            </a:pPr>
            <a:r>
              <a:rPr lang="en-US" sz="130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progression de plus de 6 % en 2024</a:t>
            </a:r>
            <a:endParaRPr lang="en-US" sz="1300" dirty="0"/>
          </a:p>
          <a:p>
            <a:pPr marL="177800" indent="-177800">
              <a:lnSpc>
                <a:spcPct val="118000"/>
              </a:lnSpc>
              <a:spcAft>
                <a:spcPts val="600"/>
              </a:spcAft>
              <a:buSzPct val="100000"/>
              <a:buChar char="–"/>
            </a:pPr>
            <a:r>
              <a:rPr lang="en-US" sz="130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segment encore petit face à l'eau nature, mais qui croît bien plus vite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09360" y="1920240"/>
            <a:ext cx="146304" cy="146304"/>
          </a:xfrm>
          <a:prstGeom prst="rect">
            <a:avLst/>
          </a:prstGeom>
          <a:solidFill>
            <a:srgbClr val="C6543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65392" y="1847088"/>
            <a:ext cx="5138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30" kern="0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cela signifie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6309360" y="2258568"/>
            <a:ext cx="5394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8000"/>
              </a:lnSpc>
              <a:spcAft>
                <a:spcPts val="600"/>
              </a:spcAft>
              <a:buSzPct val="100000"/>
              <a:buChar char="–"/>
            </a:pPr>
            <a:r>
              <a:rPr lang="en-US" sz="130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marché de l'eau reste porté par des volumes énormes</a:t>
            </a:r>
            <a:endParaRPr lang="en-US" sz="1300" dirty="0"/>
          </a:p>
          <a:p>
            <a:pPr marL="177800" indent="-177800">
              <a:lnSpc>
                <a:spcPct val="118000"/>
              </a:lnSpc>
              <a:spcAft>
                <a:spcPts val="600"/>
              </a:spcAft>
              <a:buSzPct val="100000"/>
              <a:buChar char="–"/>
            </a:pPr>
            <a:r>
              <a:rPr lang="en-US" sz="130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la croissance se déplace vers les eaux aromatisées</a:t>
            </a:r>
            <a:endParaRPr lang="en-US" sz="1300" dirty="0"/>
          </a:p>
          <a:p>
            <a:pPr marL="177800" indent="-177800">
              <a:lnSpc>
                <a:spcPct val="118000"/>
              </a:lnSpc>
              <a:spcAft>
                <a:spcPts val="600"/>
              </a:spcAft>
              <a:buSzPct val="100000"/>
              <a:buChar char="–"/>
            </a:pPr>
            <a:r>
              <a:rPr lang="en-US" sz="130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relais de croissance crédible pour evian, sans cannibaliser l'eau nature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1368735" y="6473952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97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" y="6510528"/>
            <a:ext cx="10728655" cy="0"/>
          </a:xfrm>
          <a:prstGeom prst="line">
            <a:avLst/>
          </a:prstGeom>
          <a:noFill/>
          <a:ln w="9525">
            <a:solidFill>
              <a:srgbClr val="DCD4C2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1618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722815" y="29260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9C97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IUT LE CREUSOT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46304" cy="146304"/>
          </a:xfrm>
          <a:prstGeom prst="rect">
            <a:avLst/>
          </a:prstGeom>
          <a:solidFill>
            <a:srgbClr val="C6543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04672" y="1847088"/>
            <a:ext cx="5138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30" kern="0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produit populaire, très sensible au prix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258568"/>
            <a:ext cx="5394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8000"/>
              </a:lnSpc>
              <a:spcAft>
                <a:spcPts val="600"/>
              </a:spcAft>
              <a:buSzPct val="100000"/>
              <a:buChar char="–"/>
            </a:pPr>
            <a:r>
              <a:rPr lang="en-US" sz="130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prix est le premier critère de choix</a:t>
            </a:r>
            <a:endParaRPr lang="en-US" sz="1300" dirty="0"/>
          </a:p>
          <a:p>
            <a:pPr marL="177800" indent="-177800">
              <a:lnSpc>
                <a:spcPct val="118000"/>
              </a:lnSpc>
              <a:spcAft>
                <a:spcPts val="600"/>
              </a:spcAft>
              <a:buSzPct val="100000"/>
              <a:buChar char="–"/>
            </a:pPr>
            <a:r>
              <a:rPr lang="en-US" sz="130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56 % des employés et 58 % des ouvriers en boivent tous les jours, contre 50 % des CSP+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291840"/>
            <a:ext cx="146304" cy="146304"/>
          </a:xfrm>
          <a:prstGeom prst="rect">
            <a:avLst/>
          </a:prstGeom>
          <a:solidFill>
            <a:srgbClr val="C6543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04672" y="3218688"/>
            <a:ext cx="5138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30" kern="0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fortes disparités régionales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630168"/>
            <a:ext cx="53949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8000"/>
              </a:lnSpc>
              <a:spcAft>
                <a:spcPts val="600"/>
              </a:spcAft>
              <a:buSzPct val="100000"/>
              <a:buChar char="–"/>
            </a:pPr>
            <a:r>
              <a:rPr lang="en-US" sz="130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37 % de consommateurs quotidiens en Auvergne-Rhône-Alpes</a:t>
            </a:r>
            <a:endParaRPr lang="en-US" sz="1300" dirty="0"/>
          </a:p>
          <a:p>
            <a:pPr marL="177800" indent="-177800">
              <a:lnSpc>
                <a:spcPct val="118000"/>
              </a:lnSpc>
              <a:spcAft>
                <a:spcPts val="600"/>
              </a:spcAft>
              <a:buSzPct val="100000"/>
              <a:buChar char="–"/>
            </a:pPr>
            <a:r>
              <a:rPr lang="en-US" sz="130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79 % dans les Hauts-de-France</a:t>
            </a:r>
            <a:endParaRPr lang="en-US" sz="1300" dirty="0"/>
          </a:p>
          <a:p>
            <a:pPr marL="177800" indent="-177800">
              <a:lnSpc>
                <a:spcPct val="118000"/>
              </a:lnSpc>
              <a:spcAft>
                <a:spcPts val="600"/>
              </a:spcAft>
              <a:buSzPct val="100000"/>
              <a:buChar char="–"/>
            </a:pPr>
            <a:r>
              <a:rPr lang="en-US" sz="130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confiance dans l'eau du robinet explique largement l'écart</a:t>
            </a:r>
            <a:endParaRPr lang="en-US" sz="1300" dirty="0"/>
          </a:p>
          <a:p>
            <a:pPr marL="177800" indent="-177800">
              <a:lnSpc>
                <a:spcPct val="118000"/>
              </a:lnSpc>
              <a:spcAft>
                <a:spcPts val="600"/>
              </a:spcAft>
              <a:buSzPct val="100000"/>
              <a:buChar char="–"/>
            </a:pPr>
            <a:r>
              <a:rPr lang="en-US" sz="1300" b="1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52 % boivent de l'eau en bouteille depuis l'enfance : le parent achète, l'enfant consomme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09360" y="1920240"/>
            <a:ext cx="146304" cy="146304"/>
          </a:xfrm>
          <a:prstGeom prst="rect">
            <a:avLst/>
          </a:prstGeom>
          <a:solidFill>
            <a:srgbClr val="C6543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65392" y="1847088"/>
            <a:ext cx="5138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30" kern="0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jeunes, cible prioritaire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6309360" y="2258568"/>
            <a:ext cx="5394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8000"/>
              </a:lnSpc>
              <a:spcAft>
                <a:spcPts val="600"/>
              </a:spcAft>
              <a:buSzPct val="100000"/>
              <a:buChar char="–"/>
            </a:pPr>
            <a:r>
              <a:rPr lang="en-US" sz="130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Ils remplacent de plus en plus les sodas par des eaux aromatisées</a:t>
            </a:r>
            <a:endParaRPr lang="en-US" sz="1300" dirty="0"/>
          </a:p>
          <a:p>
            <a:pPr marL="177800" indent="-177800">
              <a:lnSpc>
                <a:spcPct val="118000"/>
              </a:lnSpc>
              <a:spcAft>
                <a:spcPts val="600"/>
              </a:spcAft>
              <a:buSzPct val="100000"/>
              <a:buChar char="–"/>
            </a:pPr>
            <a:r>
              <a:rPr lang="en-US" sz="130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: limiter le sucre et garder un côté healthy</a:t>
            </a:r>
            <a:endParaRPr lang="en-US" sz="1300" dirty="0"/>
          </a:p>
          <a:p>
            <a:pPr marL="177800" indent="-177800">
              <a:lnSpc>
                <a:spcPct val="118000"/>
              </a:lnSpc>
              <a:spcAft>
                <a:spcPts val="600"/>
              </a:spcAft>
              <a:buSzPct val="100000"/>
              <a:buChar char="–"/>
            </a:pPr>
            <a:r>
              <a:rPr lang="en-US" sz="130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Notre consommateur type : un jeune adulte ou un parent qui cherche une alternative saine aux sodas et fait attention au sucre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1368735" y="6473952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97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" y="6510528"/>
            <a:ext cx="10728655" cy="0"/>
          </a:xfrm>
          <a:prstGeom prst="line">
            <a:avLst/>
          </a:prstGeom>
          <a:noFill/>
          <a:ln w="9525">
            <a:solidFill>
              <a:srgbClr val="DCD4C2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1618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722815" y="29260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9C97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IUT LE CREUSOT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2057400"/>
            <a:ext cx="146304" cy="146304"/>
          </a:xfrm>
          <a:prstGeom prst="rect">
            <a:avLst/>
          </a:prstGeom>
          <a:solidFill>
            <a:srgbClr val="C6543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04672" y="1984248"/>
            <a:ext cx="9345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30" kern="0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Motivations et freins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395728"/>
            <a:ext cx="9601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8000"/>
              </a:lnSpc>
              <a:spcAft>
                <a:spcPts val="600"/>
              </a:spcAft>
              <a:buSzPct val="100000"/>
              <a:buChar char="–"/>
            </a:pPr>
            <a:r>
              <a:rPr lang="en-US" sz="150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 : du goût sans passer au soda, ou ne pas aimer l'eau nature</a:t>
            </a:r>
            <a:endParaRPr lang="en-US" sz="1500" dirty="0"/>
          </a:p>
          <a:p>
            <a:pPr marL="177800" indent="-177800">
              <a:lnSpc>
                <a:spcPct val="118000"/>
              </a:lnSpc>
              <a:spcAft>
                <a:spcPts val="600"/>
              </a:spcAft>
              <a:buSzPct val="100000"/>
              <a:buChar char="–"/>
            </a:pPr>
            <a:r>
              <a:rPr lang="en-US" sz="150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Frein prix : 38 % aimeraient en boire plus mais n'en ont pas les moyens</a:t>
            </a:r>
            <a:endParaRPr lang="en-US" sz="1500" dirty="0"/>
          </a:p>
          <a:p>
            <a:pPr marL="177800" indent="-177800">
              <a:lnSpc>
                <a:spcPct val="118000"/>
              </a:lnSpc>
              <a:spcAft>
                <a:spcPts val="600"/>
              </a:spcAft>
              <a:buSzPct val="100000"/>
              <a:buChar char="–"/>
            </a:pPr>
            <a:r>
              <a:rPr lang="en-US" sz="150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Frein écologique : 85 % voient l'emballage plastique comme un problème majeur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3931920"/>
            <a:ext cx="9601200" cy="960120"/>
          </a:xfrm>
          <a:prstGeom prst="rect">
            <a:avLst/>
          </a:prstGeom>
          <a:solidFill>
            <a:srgbClr val="EAE2D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3931920"/>
            <a:ext cx="9144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1618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Deux freins qu'evian FRESH devra assumer : le prix premium et l'emballage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1368735" y="6473952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97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920" y="6510528"/>
            <a:ext cx="10728655" cy="0"/>
          </a:xfrm>
          <a:prstGeom prst="line">
            <a:avLst/>
          </a:prstGeom>
          <a:noFill/>
          <a:ln w="9525">
            <a:solidFill>
              <a:srgbClr val="DCD4C2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722815" y="29260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9C97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IUT LE CREUSOT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1618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Environnement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114800" y="141732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i="1" dirty="0">
                <a:solidFill>
                  <a:srgbClr val="C65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PESTEL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017520" y="2743200"/>
            <a:ext cx="6126480" cy="6126480"/>
          </a:xfrm>
          <a:prstGeom prst="ellipse">
            <a:avLst/>
          </a:prstGeom>
          <a:solidFill>
            <a:srgbClr val="16181C"/>
          </a:solidFill>
          <a:ln/>
        </p:spPr>
      </p:sp>
      <p:sp>
        <p:nvSpPr>
          <p:cNvPr id="6" name="Shape 4"/>
          <p:cNvSpPr/>
          <p:nvPr/>
        </p:nvSpPr>
        <p:spPr>
          <a:xfrm>
            <a:off x="2331720" y="1600200"/>
            <a:ext cx="822960" cy="822960"/>
          </a:xfrm>
          <a:prstGeom prst="ellipse">
            <a:avLst/>
          </a:prstGeom>
          <a:solidFill>
            <a:srgbClr val="F6F1E7"/>
          </a:solidFill>
          <a:ln w="19050">
            <a:solidFill>
              <a:srgbClr val="AD8A5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331720" y="1600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618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18745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SOCIOCULTUREL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686800" y="1600200"/>
            <a:ext cx="822960" cy="822960"/>
          </a:xfrm>
          <a:prstGeom prst="ellipse">
            <a:avLst/>
          </a:prstGeom>
          <a:solidFill>
            <a:srgbClr val="F6F1E7"/>
          </a:solidFill>
          <a:ln w="19050">
            <a:solidFill>
              <a:srgbClr val="AD8A5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686800" y="1600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618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9601200" y="18745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TECHNOLOGIQUE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874520" y="2331720"/>
            <a:ext cx="822960" cy="822960"/>
          </a:xfrm>
          <a:prstGeom prst="ellipse">
            <a:avLst/>
          </a:prstGeom>
          <a:solidFill>
            <a:srgbClr val="F6F1E7"/>
          </a:solidFill>
          <a:ln w="19050">
            <a:solidFill>
              <a:srgbClr val="AD8A5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874520" y="23317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618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45720" y="26060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ÉCONOMIQUE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144000" y="2331720"/>
            <a:ext cx="822960" cy="822960"/>
          </a:xfrm>
          <a:prstGeom prst="ellipse">
            <a:avLst/>
          </a:prstGeom>
          <a:solidFill>
            <a:srgbClr val="F6F1E7"/>
          </a:solidFill>
          <a:ln w="19050">
            <a:solidFill>
              <a:srgbClr val="AD8A5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44000" y="23317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618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10058400" y="26060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ÉCOLOGIQUE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600200" y="3063240"/>
            <a:ext cx="822960" cy="822960"/>
          </a:xfrm>
          <a:prstGeom prst="ellipse">
            <a:avLst/>
          </a:prstGeom>
          <a:solidFill>
            <a:srgbClr val="F6F1E7"/>
          </a:solidFill>
          <a:ln w="19050">
            <a:solidFill>
              <a:srgbClr val="AD8A5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600200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618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-228600" y="33375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POLITIQUE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418320" y="3063240"/>
            <a:ext cx="822960" cy="822960"/>
          </a:xfrm>
          <a:prstGeom prst="ellipse">
            <a:avLst/>
          </a:prstGeom>
          <a:solidFill>
            <a:srgbClr val="F6F1E7"/>
          </a:solidFill>
          <a:ln w="19050">
            <a:solidFill>
              <a:srgbClr val="AD8A5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418320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618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</a:t>
            </a:r>
            <a:endParaRPr lang="en-US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10332720" y="33375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LÉGAL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11368735" y="6473952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97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02920" y="6510528"/>
            <a:ext cx="10728655" cy="0"/>
          </a:xfrm>
          <a:prstGeom prst="line">
            <a:avLst/>
          </a:prstGeom>
          <a:noFill/>
          <a:ln w="9525">
            <a:solidFill>
              <a:srgbClr val="DCD4C2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/795a3683-a2d5-55e1-80ef-99492ab8aef4/scratchpad/deck/img/41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071183" y="0"/>
            <a:ext cx="512051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071183" y="0"/>
            <a:ext cx="0" cy="6858000"/>
          </a:xfrm>
          <a:prstGeom prst="line">
            <a:avLst/>
          </a:prstGeom>
          <a:noFill/>
          <a:ln w="12700">
            <a:solidFill>
              <a:srgbClr val="16181C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9722815" y="29260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9C97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IUT LE CREUSOT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548640" y="1234440"/>
            <a:ext cx="1280160" cy="1280160"/>
          </a:xfrm>
          <a:prstGeom prst="ellipse">
            <a:avLst/>
          </a:prstGeom>
          <a:solidFill>
            <a:srgbClr val="16181C"/>
          </a:solidFill>
          <a:ln/>
        </p:spPr>
      </p:sp>
      <p:sp>
        <p:nvSpPr>
          <p:cNvPr id="6" name="Shape 3"/>
          <p:cNvSpPr/>
          <p:nvPr/>
        </p:nvSpPr>
        <p:spPr>
          <a:xfrm>
            <a:off x="603504" y="1289304"/>
            <a:ext cx="1170432" cy="1170432"/>
          </a:xfrm>
          <a:prstGeom prst="ellipse">
            <a:avLst/>
          </a:prstGeom>
          <a:ln w="19050">
            <a:solidFill>
              <a:srgbClr val="C6543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12344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6F1E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2331720" y="1417320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618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Politique / Légal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2880360"/>
            <a:ext cx="62179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8000"/>
              </a:lnSpc>
              <a:spcAft>
                <a:spcPts val="600"/>
              </a:spcAft>
              <a:buSzPct val="100000"/>
              <a:buChar char="–"/>
            </a:pPr>
            <a:r>
              <a:rPr lang="en-US" sz="130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de hausse de la TVA sur l'eau en bouteille plastique : de 5,5 % à 20 %</a:t>
            </a:r>
            <a:endParaRPr lang="en-US" sz="1300" dirty="0"/>
          </a:p>
          <a:p>
            <a:pPr marL="177800" indent="-177800">
              <a:lnSpc>
                <a:spcPct val="118000"/>
              </a:lnSpc>
              <a:spcAft>
                <a:spcPts val="600"/>
              </a:spcAft>
              <a:buSzPct val="100000"/>
              <a:buChar char="–"/>
            </a:pPr>
            <a:r>
              <a:rPr lang="en-US" sz="130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Appellation « eau minérale naturelle » très encadrée : traitements interdits</a:t>
            </a:r>
            <a:endParaRPr lang="en-US" sz="1300" dirty="0"/>
          </a:p>
          <a:p>
            <a:pPr marL="177800" indent="-177800">
              <a:lnSpc>
                <a:spcPct val="118000"/>
              </a:lnSpc>
              <a:spcAft>
                <a:spcPts val="600"/>
              </a:spcAft>
              <a:buSzPct val="100000"/>
              <a:buChar char="–"/>
            </a:pPr>
            <a:r>
              <a:rPr lang="en-US" sz="130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Loi anti-gaspillage (AGEC) : fin du plastique à usage unique</a:t>
            </a:r>
            <a:endParaRPr lang="en-US" sz="1300" dirty="0"/>
          </a:p>
          <a:p>
            <a:pPr marL="177800" indent="-177800">
              <a:lnSpc>
                <a:spcPct val="118000"/>
              </a:lnSpc>
              <a:spcAft>
                <a:spcPts val="600"/>
              </a:spcAft>
              <a:buSzPct val="100000"/>
              <a:buChar char="–"/>
            </a:pPr>
            <a:r>
              <a:rPr lang="en-US" sz="130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Affichage obligatoire du Nutri-Score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11368735" y="6473952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97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02920" y="6510528"/>
            <a:ext cx="10728655" cy="0"/>
          </a:xfrm>
          <a:prstGeom prst="line">
            <a:avLst/>
          </a:prstGeom>
          <a:noFill/>
          <a:ln w="9525">
            <a:solidFill>
              <a:srgbClr val="DCD4C2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/795a3683-a2d5-55e1-80ef-99492ab8aef4/scratchpad/deck/img/42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071183" y="0"/>
            <a:ext cx="512051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071183" y="0"/>
            <a:ext cx="0" cy="6858000"/>
          </a:xfrm>
          <a:prstGeom prst="line">
            <a:avLst/>
          </a:prstGeom>
          <a:noFill/>
          <a:ln w="12700">
            <a:solidFill>
              <a:srgbClr val="16181C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9722815" y="29260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9C97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IUT LE CREUSOT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548640" y="1234440"/>
            <a:ext cx="1280160" cy="1280160"/>
          </a:xfrm>
          <a:prstGeom prst="ellipse">
            <a:avLst/>
          </a:prstGeom>
          <a:solidFill>
            <a:srgbClr val="16181C"/>
          </a:solidFill>
          <a:ln/>
        </p:spPr>
      </p:sp>
      <p:sp>
        <p:nvSpPr>
          <p:cNvPr id="6" name="Shape 3"/>
          <p:cNvSpPr/>
          <p:nvPr/>
        </p:nvSpPr>
        <p:spPr>
          <a:xfrm>
            <a:off x="603504" y="1289304"/>
            <a:ext cx="1170432" cy="1170432"/>
          </a:xfrm>
          <a:prstGeom prst="ellipse">
            <a:avLst/>
          </a:prstGeom>
          <a:ln w="19050">
            <a:solidFill>
              <a:srgbClr val="C6543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12344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6F1E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2331720" y="1417320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618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Économique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2880360"/>
            <a:ext cx="62179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8000"/>
              </a:lnSpc>
              <a:spcAft>
                <a:spcPts val="600"/>
              </a:spcAft>
              <a:buSzPct val="100000"/>
              <a:buChar char="–"/>
            </a:pPr>
            <a:r>
              <a:rPr lang="en-US" sz="130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Inflation alimentaire et baisse du pouvoir d'achat</a:t>
            </a:r>
            <a:endParaRPr lang="en-US" sz="1300" dirty="0"/>
          </a:p>
          <a:p>
            <a:pPr marL="177800" indent="-177800">
              <a:lnSpc>
                <a:spcPct val="118000"/>
              </a:lnSpc>
              <a:spcAft>
                <a:spcPts val="600"/>
              </a:spcAft>
              <a:buSzPct val="100000"/>
              <a:buChar char="–"/>
            </a:pPr>
            <a:r>
              <a:rPr lang="en-US" sz="130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Décroissance du marché des boissons sans alcool depuis 2017</a:t>
            </a:r>
            <a:endParaRPr lang="en-US" sz="1300" dirty="0"/>
          </a:p>
          <a:p>
            <a:pPr marL="177800" indent="-177800">
              <a:lnSpc>
                <a:spcPct val="118000"/>
              </a:lnSpc>
              <a:spcAft>
                <a:spcPts val="600"/>
              </a:spcAft>
              <a:buSzPct val="100000"/>
              <a:buChar char="–"/>
            </a:pPr>
            <a:r>
              <a:rPr lang="en-US" sz="130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un marché de l'eau résilient et excédentaire à l'export</a:t>
            </a:r>
            <a:endParaRPr lang="en-US" sz="1300" dirty="0"/>
          </a:p>
          <a:p>
            <a:pPr marL="177800" indent="-177800">
              <a:lnSpc>
                <a:spcPct val="118000"/>
              </a:lnSpc>
              <a:spcAft>
                <a:spcPts val="600"/>
              </a:spcAft>
              <a:buSzPct val="100000"/>
              <a:buChar char="–"/>
            </a:pPr>
            <a:r>
              <a:rPr lang="en-US" sz="130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prix reste le premier critère d'achat des consommateurs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11368735" y="6473952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97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02920" y="6510528"/>
            <a:ext cx="10728655" cy="0"/>
          </a:xfrm>
          <a:prstGeom prst="line">
            <a:avLst/>
          </a:prstGeom>
          <a:noFill/>
          <a:ln w="9525">
            <a:solidFill>
              <a:srgbClr val="DCD4C2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/795a3683-a2d5-55e1-80ef-99492ab8aef4/scratchpad/deck/img/43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071183" y="0"/>
            <a:ext cx="512051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071183" y="0"/>
            <a:ext cx="0" cy="6858000"/>
          </a:xfrm>
          <a:prstGeom prst="line">
            <a:avLst/>
          </a:prstGeom>
          <a:noFill/>
          <a:ln w="12700">
            <a:solidFill>
              <a:srgbClr val="16181C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9722815" y="29260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9C97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IUT LE CREUSOT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548640" y="1234440"/>
            <a:ext cx="1280160" cy="1280160"/>
          </a:xfrm>
          <a:prstGeom prst="ellipse">
            <a:avLst/>
          </a:prstGeom>
          <a:solidFill>
            <a:srgbClr val="16181C"/>
          </a:solidFill>
          <a:ln/>
        </p:spPr>
      </p:sp>
      <p:sp>
        <p:nvSpPr>
          <p:cNvPr id="6" name="Shape 3"/>
          <p:cNvSpPr/>
          <p:nvPr/>
        </p:nvSpPr>
        <p:spPr>
          <a:xfrm>
            <a:off x="603504" y="1289304"/>
            <a:ext cx="1170432" cy="1170432"/>
          </a:xfrm>
          <a:prstGeom prst="ellipse">
            <a:avLst/>
          </a:prstGeom>
          <a:ln w="19050">
            <a:solidFill>
              <a:srgbClr val="C6543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12344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6F1E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2331720" y="1417320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618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Socioculturel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2880360"/>
            <a:ext cx="62179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8000"/>
              </a:lnSpc>
              <a:spcAft>
                <a:spcPts val="600"/>
              </a:spcAft>
              <a:buSzPct val="100000"/>
              <a:buChar char="–"/>
            </a:pPr>
            <a:r>
              <a:rPr lang="en-US" sz="130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Culture du « bien-boire » et de la santé</a:t>
            </a:r>
            <a:endParaRPr lang="en-US" sz="1300" dirty="0"/>
          </a:p>
          <a:p>
            <a:pPr marL="177800" indent="-177800">
              <a:lnSpc>
                <a:spcPct val="118000"/>
              </a:lnSpc>
              <a:spcAft>
                <a:spcPts val="600"/>
              </a:spcAft>
              <a:buSzPct val="100000"/>
              <a:buChar char="–"/>
            </a:pPr>
            <a:r>
              <a:rPr lang="en-US" sz="130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Réduction du sucre et quête de naturalité</a:t>
            </a:r>
            <a:endParaRPr lang="en-US" sz="1300" dirty="0"/>
          </a:p>
          <a:p>
            <a:pPr marL="177800" indent="-177800">
              <a:lnSpc>
                <a:spcPct val="118000"/>
              </a:lnSpc>
              <a:spcAft>
                <a:spcPts val="600"/>
              </a:spcAft>
              <a:buSzPct val="100000"/>
              <a:buChar char="–"/>
            </a:pPr>
            <a:r>
              <a:rPr lang="en-US" sz="130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Nomadisme et individualisation des foyers (≈ 40 % de ménages d'une personne)</a:t>
            </a:r>
            <a:endParaRPr lang="en-US" sz="1300" dirty="0"/>
          </a:p>
          <a:p>
            <a:pPr marL="177800" indent="-177800">
              <a:lnSpc>
                <a:spcPct val="118000"/>
              </a:lnSpc>
              <a:spcAft>
                <a:spcPts val="600"/>
              </a:spcAft>
              <a:buSzPct val="100000"/>
              <a:buChar char="–"/>
            </a:pPr>
            <a:r>
              <a:rPr lang="en-US" sz="130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Effet Instagram » sur les parfums et les nouveautés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11368735" y="6473952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97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02920" y="6510528"/>
            <a:ext cx="10728655" cy="0"/>
          </a:xfrm>
          <a:prstGeom prst="line">
            <a:avLst/>
          </a:prstGeom>
          <a:noFill/>
          <a:ln w="9525">
            <a:solidFill>
              <a:srgbClr val="DCD4C2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/795a3683-a2d5-55e1-80ef-99492ab8aef4/scratchpad/deck/img/44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071183" y="0"/>
            <a:ext cx="512051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071183" y="0"/>
            <a:ext cx="0" cy="6858000"/>
          </a:xfrm>
          <a:prstGeom prst="line">
            <a:avLst/>
          </a:prstGeom>
          <a:noFill/>
          <a:ln w="12700">
            <a:solidFill>
              <a:srgbClr val="16181C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9722815" y="29260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9C97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IUT LE CREUSOT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548640" y="1234440"/>
            <a:ext cx="1280160" cy="1280160"/>
          </a:xfrm>
          <a:prstGeom prst="ellipse">
            <a:avLst/>
          </a:prstGeom>
          <a:solidFill>
            <a:srgbClr val="16181C"/>
          </a:solidFill>
          <a:ln/>
        </p:spPr>
      </p:sp>
      <p:sp>
        <p:nvSpPr>
          <p:cNvPr id="6" name="Shape 3"/>
          <p:cNvSpPr/>
          <p:nvPr/>
        </p:nvSpPr>
        <p:spPr>
          <a:xfrm>
            <a:off x="603504" y="1289304"/>
            <a:ext cx="1170432" cy="1170432"/>
          </a:xfrm>
          <a:prstGeom prst="ellipse">
            <a:avLst/>
          </a:prstGeom>
          <a:ln w="19050">
            <a:solidFill>
              <a:srgbClr val="C6543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12344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6F1E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2331720" y="1417320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618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Technologique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2880360"/>
            <a:ext cx="62179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8000"/>
              </a:lnSpc>
              <a:spcAft>
                <a:spcPts val="600"/>
              </a:spcAft>
              <a:buSzPct val="100000"/>
              <a:buChar char="–"/>
            </a:pPr>
            <a:r>
              <a:rPr lang="en-US" sz="130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Aromatisation naturelle sans sucre ni édulcorant</a:t>
            </a:r>
            <a:endParaRPr lang="en-US" sz="1300" dirty="0"/>
          </a:p>
          <a:p>
            <a:pPr marL="177800" indent="-177800">
              <a:lnSpc>
                <a:spcPct val="118000"/>
              </a:lnSpc>
              <a:spcAft>
                <a:spcPts val="600"/>
              </a:spcAft>
              <a:buSzPct val="100000"/>
              <a:buChar char="–"/>
            </a:pPr>
            <a:r>
              <a:rPr lang="en-US" sz="130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Enrichissement fonctionnel : vitamines, plantes</a:t>
            </a:r>
            <a:endParaRPr lang="en-US" sz="1300" dirty="0"/>
          </a:p>
          <a:p>
            <a:pPr marL="177800" indent="-177800">
              <a:lnSpc>
                <a:spcPct val="118000"/>
              </a:lnSpc>
              <a:spcAft>
                <a:spcPts val="600"/>
              </a:spcAft>
              <a:buSzPct val="100000"/>
              <a:buChar char="–"/>
            </a:pPr>
            <a:r>
              <a:rPr lang="en-US" sz="130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Allégement et recyclage du plastique (rPET)</a:t>
            </a:r>
            <a:endParaRPr lang="en-US" sz="1300" dirty="0"/>
          </a:p>
          <a:p>
            <a:pPr marL="177800" indent="-177800">
              <a:lnSpc>
                <a:spcPct val="118000"/>
              </a:lnSpc>
              <a:spcAft>
                <a:spcPts val="600"/>
              </a:spcAft>
              <a:buSzPct val="100000"/>
              <a:buChar char="–"/>
            </a:pPr>
            <a:r>
              <a:rPr lang="en-US" sz="130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Nouveaux formats nomades adaptés à la consommation hors foyer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11368735" y="6473952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97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02920" y="6510528"/>
            <a:ext cx="10728655" cy="0"/>
          </a:xfrm>
          <a:prstGeom prst="line">
            <a:avLst/>
          </a:prstGeom>
          <a:noFill/>
          <a:ln w="9525">
            <a:solidFill>
              <a:srgbClr val="DCD4C2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/795a3683-a2d5-55e1-80ef-99492ab8aef4/scratchpad/deck/img/45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071183" y="0"/>
            <a:ext cx="512051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071183" y="0"/>
            <a:ext cx="0" cy="6858000"/>
          </a:xfrm>
          <a:prstGeom prst="line">
            <a:avLst/>
          </a:prstGeom>
          <a:noFill/>
          <a:ln w="12700">
            <a:solidFill>
              <a:srgbClr val="16181C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9722815" y="29260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9C97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IUT LE CREUSOT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548640" y="1234440"/>
            <a:ext cx="1280160" cy="1280160"/>
          </a:xfrm>
          <a:prstGeom prst="ellipse">
            <a:avLst/>
          </a:prstGeom>
          <a:solidFill>
            <a:srgbClr val="16181C"/>
          </a:solidFill>
          <a:ln/>
        </p:spPr>
      </p:sp>
      <p:sp>
        <p:nvSpPr>
          <p:cNvPr id="6" name="Shape 3"/>
          <p:cNvSpPr/>
          <p:nvPr/>
        </p:nvSpPr>
        <p:spPr>
          <a:xfrm>
            <a:off x="603504" y="1289304"/>
            <a:ext cx="1170432" cy="1170432"/>
          </a:xfrm>
          <a:prstGeom prst="ellipse">
            <a:avLst/>
          </a:prstGeom>
          <a:ln w="19050">
            <a:solidFill>
              <a:srgbClr val="C6543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12344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6F1E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2331720" y="1417320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618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Écologique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2880360"/>
            <a:ext cx="62179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8000"/>
              </a:lnSpc>
              <a:spcAft>
                <a:spcPts val="600"/>
              </a:spcAft>
              <a:buSzPct val="100000"/>
              <a:buChar char="–"/>
            </a:pPr>
            <a:r>
              <a:rPr lang="en-US" sz="130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Empreinte carbone et pollution plastique des bouteilles PET</a:t>
            </a:r>
            <a:endParaRPr lang="en-US" sz="1300" dirty="0"/>
          </a:p>
          <a:p>
            <a:pPr marL="177800" indent="-177800">
              <a:lnSpc>
                <a:spcPct val="118000"/>
              </a:lnSpc>
              <a:spcAft>
                <a:spcPts val="600"/>
              </a:spcAft>
              <a:buSzPct val="100000"/>
              <a:buChar char="–"/>
            </a:pPr>
            <a:r>
              <a:rPr lang="en-US" sz="130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Présence de microplastiques dans l'eau embouteillée</a:t>
            </a:r>
            <a:endParaRPr lang="en-US" sz="1300" dirty="0"/>
          </a:p>
          <a:p>
            <a:pPr marL="177800" indent="-177800">
              <a:lnSpc>
                <a:spcPct val="118000"/>
              </a:lnSpc>
              <a:spcAft>
                <a:spcPts val="600"/>
              </a:spcAft>
              <a:buSzPct val="100000"/>
              <a:buChar char="–"/>
            </a:pPr>
            <a:r>
              <a:rPr lang="en-US" sz="130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Pression pour la consigne et le rPET</a:t>
            </a:r>
            <a:endParaRPr lang="en-US" sz="1300" dirty="0"/>
          </a:p>
          <a:p>
            <a:pPr marL="177800" indent="-177800">
              <a:lnSpc>
                <a:spcPct val="118000"/>
              </a:lnSpc>
              <a:spcAft>
                <a:spcPts val="600"/>
              </a:spcAft>
              <a:buSzPct val="100000"/>
              <a:buChar char="–"/>
            </a:pPr>
            <a:r>
              <a:rPr lang="en-US" sz="130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Forte concurrence de l'eau du robinet : moins chère et sans emballage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11368735" y="6473952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97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02920" y="6510528"/>
            <a:ext cx="10728655" cy="0"/>
          </a:xfrm>
          <a:prstGeom prst="line">
            <a:avLst/>
          </a:prstGeom>
          <a:noFill/>
          <a:ln w="9525">
            <a:solidFill>
              <a:srgbClr val="DCD4C2"/>
            </a:solidFill>
            <a:prstDash val="solid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/795a3683-a2d5-55e1-80ef-99492ab8aef4/scratchpad/deck/img/46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071183" y="0"/>
            <a:ext cx="512051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071183" y="0"/>
            <a:ext cx="0" cy="6858000"/>
          </a:xfrm>
          <a:prstGeom prst="line">
            <a:avLst/>
          </a:prstGeom>
          <a:noFill/>
          <a:ln w="12700">
            <a:solidFill>
              <a:srgbClr val="16181C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9722815" y="29260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9C97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IUT LE CREUSOT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548640" y="1234440"/>
            <a:ext cx="1280160" cy="1280160"/>
          </a:xfrm>
          <a:prstGeom prst="ellipse">
            <a:avLst/>
          </a:prstGeom>
          <a:solidFill>
            <a:srgbClr val="16181C"/>
          </a:solidFill>
          <a:ln/>
        </p:spPr>
      </p:sp>
      <p:sp>
        <p:nvSpPr>
          <p:cNvPr id="6" name="Shape 3"/>
          <p:cNvSpPr/>
          <p:nvPr/>
        </p:nvSpPr>
        <p:spPr>
          <a:xfrm>
            <a:off x="603504" y="1289304"/>
            <a:ext cx="1170432" cy="1170432"/>
          </a:xfrm>
          <a:prstGeom prst="ellipse">
            <a:avLst/>
          </a:prstGeom>
          <a:ln w="19050">
            <a:solidFill>
              <a:srgbClr val="C6543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12344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6F1E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2331720" y="1417320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618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Légal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2880360"/>
            <a:ext cx="62179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8000"/>
              </a:lnSpc>
              <a:spcAft>
                <a:spcPts val="600"/>
              </a:spcAft>
              <a:buSzPct val="100000"/>
              <a:buChar char="–"/>
            </a:pPr>
            <a:r>
              <a:rPr lang="en-US" sz="130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Scandale des eaux minérales Nestlé révélé le 30 janvier 2024</a:t>
            </a:r>
            <a:endParaRPr lang="en-US" sz="1300" dirty="0"/>
          </a:p>
          <a:p>
            <a:pPr marL="177800" indent="-177800">
              <a:lnSpc>
                <a:spcPct val="118000"/>
              </a:lnSpc>
              <a:spcAft>
                <a:spcPts val="600"/>
              </a:spcAft>
              <a:buSzPct val="100000"/>
              <a:buChar char="–"/>
            </a:pPr>
            <a:r>
              <a:rPr lang="en-US" sz="130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Traitements interdits utilisés : UV, charbon actif, microfiltration</a:t>
            </a:r>
            <a:endParaRPr lang="en-US" sz="1300" dirty="0"/>
          </a:p>
          <a:p>
            <a:pPr marL="177800" indent="-177800">
              <a:lnSpc>
                <a:spcPct val="118000"/>
              </a:lnSpc>
              <a:spcAft>
                <a:spcPts val="600"/>
              </a:spcAft>
              <a:buSzPct val="100000"/>
              <a:buChar char="–"/>
            </a:pPr>
            <a:r>
              <a:rPr lang="en-US" sz="130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Présence de microplastiques détectée</a:t>
            </a:r>
            <a:endParaRPr lang="en-US" sz="1300" dirty="0"/>
          </a:p>
          <a:p>
            <a:pPr marL="177800" indent="-177800">
              <a:lnSpc>
                <a:spcPct val="118000"/>
              </a:lnSpc>
              <a:spcAft>
                <a:spcPts val="600"/>
              </a:spcAft>
              <a:buSzPct val="100000"/>
              <a:buChar char="–"/>
            </a:pPr>
            <a:r>
              <a:rPr lang="en-US" sz="130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 : défiance envers l'eau en bouteille et enjeu majeur de transparence pour toute la filière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11368735" y="6473952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97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02920" y="6510528"/>
            <a:ext cx="10728655" cy="0"/>
          </a:xfrm>
          <a:prstGeom prst="line">
            <a:avLst/>
          </a:prstGeom>
          <a:noFill/>
          <a:ln w="9525">
            <a:solidFill>
              <a:srgbClr val="DCD4C2"/>
            </a:solidFill>
            <a:prstDash val="solid"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722815" y="29260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9C97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IUT LE CREUSOT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2743200" y="548640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618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Analyse Externe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91840" y="2377440"/>
            <a:ext cx="5577840" cy="5577840"/>
          </a:xfrm>
          <a:prstGeom prst="ellipse">
            <a:avLst/>
          </a:prstGeom>
          <a:solidFill>
            <a:srgbClr val="16181C"/>
          </a:solidFill>
          <a:ln/>
        </p:spPr>
      </p:sp>
      <p:sp>
        <p:nvSpPr>
          <p:cNvPr id="5" name="Shape 3"/>
          <p:cNvSpPr/>
          <p:nvPr/>
        </p:nvSpPr>
        <p:spPr>
          <a:xfrm>
            <a:off x="4480560" y="1737360"/>
            <a:ext cx="960120" cy="960120"/>
          </a:xfrm>
          <a:prstGeom prst="ellipse">
            <a:avLst/>
          </a:prstGeom>
          <a:solidFill>
            <a:srgbClr val="F6F1E7"/>
          </a:solidFill>
          <a:ln w="22225">
            <a:solidFill>
              <a:srgbClr val="C6543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480560" y="17373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618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2286000" y="212140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MENACES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720840" y="1737360"/>
            <a:ext cx="960120" cy="960120"/>
          </a:xfrm>
          <a:prstGeom prst="ellipse">
            <a:avLst/>
          </a:prstGeom>
          <a:solidFill>
            <a:srgbClr val="F6F1E7"/>
          </a:solidFill>
          <a:ln w="22225">
            <a:solidFill>
              <a:srgbClr val="C6543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720840" y="17373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618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7863840" y="21214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OPPORTUNITÉS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1368735" y="6473952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97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" y="6510528"/>
            <a:ext cx="10728655" cy="0"/>
          </a:xfrm>
          <a:prstGeom prst="line">
            <a:avLst/>
          </a:prstGeom>
          <a:noFill/>
          <a:ln w="9525">
            <a:solidFill>
              <a:srgbClr val="DCD4C2"/>
            </a:solidFill>
            <a:prstDash val="solid"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/795a3683-a2d5-55e1-80ef-99492ab8aef4/scratchpad/deck/img/48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46519" y="0"/>
            <a:ext cx="414517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046519" y="0"/>
            <a:ext cx="0" cy="6858000"/>
          </a:xfrm>
          <a:prstGeom prst="line">
            <a:avLst/>
          </a:prstGeom>
          <a:noFill/>
          <a:ln w="12700">
            <a:solidFill>
              <a:srgbClr val="16181C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9722815" y="29260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9C97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IUT LE CREUSOT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548640" y="2651760"/>
            <a:ext cx="1280160" cy="1280160"/>
          </a:xfrm>
          <a:prstGeom prst="ellipse">
            <a:avLst/>
          </a:prstGeom>
          <a:solidFill>
            <a:srgbClr val="16181C"/>
          </a:solidFill>
          <a:ln/>
        </p:spPr>
      </p:sp>
      <p:sp>
        <p:nvSpPr>
          <p:cNvPr id="6" name="Shape 3"/>
          <p:cNvSpPr/>
          <p:nvPr/>
        </p:nvSpPr>
        <p:spPr>
          <a:xfrm>
            <a:off x="603504" y="2706624"/>
            <a:ext cx="1170432" cy="1170432"/>
          </a:xfrm>
          <a:prstGeom prst="ellipse">
            <a:avLst/>
          </a:prstGeom>
          <a:ln w="19050">
            <a:solidFill>
              <a:srgbClr val="C6543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265176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6F1E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2148840" y="283464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618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Menaces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4114800"/>
            <a:ext cx="69494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8000"/>
              </a:lnSpc>
              <a:spcAft>
                <a:spcPts val="600"/>
              </a:spcAft>
              <a:buSzPct val="100000"/>
              <a:buChar char="–"/>
            </a:pPr>
            <a:r>
              <a:rPr lang="en-US" sz="125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Défiance des consommateurs après le scandale Nestlé de 2024</a:t>
            </a:r>
            <a:endParaRPr lang="en-US" sz="1250" dirty="0"/>
          </a:p>
          <a:p>
            <a:pPr marL="177800" indent="-177800">
              <a:lnSpc>
                <a:spcPct val="118000"/>
              </a:lnSpc>
              <a:spcAft>
                <a:spcPts val="600"/>
              </a:spcAft>
              <a:buSzPct val="100000"/>
              <a:buChar char="–"/>
            </a:pPr>
            <a:r>
              <a:rPr lang="en-US" sz="125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Pression réglementaire et fiscale : hausse de TVA, loi AGEC</a:t>
            </a:r>
            <a:endParaRPr lang="en-US" sz="1250" dirty="0"/>
          </a:p>
          <a:p>
            <a:pPr marL="177800" indent="-177800">
              <a:lnSpc>
                <a:spcPct val="118000"/>
              </a:lnSpc>
              <a:spcAft>
                <a:spcPts val="600"/>
              </a:spcAft>
              <a:buSzPct val="100000"/>
              <a:buChar char="–"/>
            </a:pPr>
            <a:r>
              <a:rPr lang="en-US" sz="125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Concurrence directe déjà installée : Volvic, Vittel Fruité, Cristaline, DASH</a:t>
            </a:r>
            <a:endParaRPr lang="en-US" sz="1250" dirty="0"/>
          </a:p>
          <a:p>
            <a:pPr marL="177800" indent="-177800">
              <a:lnSpc>
                <a:spcPct val="118000"/>
              </a:lnSpc>
              <a:spcAft>
                <a:spcPts val="600"/>
              </a:spcAft>
              <a:buSzPct val="100000"/>
              <a:buChar char="–"/>
            </a:pPr>
            <a:r>
              <a:rPr lang="en-US" sz="125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MDD et hard discount qui tirent les prix vers le bas</a:t>
            </a:r>
            <a:endParaRPr lang="en-US" sz="1250" dirty="0"/>
          </a:p>
          <a:p>
            <a:pPr marL="177800" indent="-177800">
              <a:lnSpc>
                <a:spcPct val="118000"/>
              </a:lnSpc>
              <a:spcAft>
                <a:spcPts val="600"/>
              </a:spcAft>
              <a:buSzPct val="100000"/>
              <a:buChar char="–"/>
            </a:pPr>
            <a:r>
              <a:rPr lang="en-US" sz="125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Forte sensibilité au prix dans un contexte inflationniste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11368735" y="6473952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97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02920" y="6510528"/>
            <a:ext cx="10728655" cy="0"/>
          </a:xfrm>
          <a:prstGeom prst="line">
            <a:avLst/>
          </a:prstGeom>
          <a:noFill/>
          <a:ln w="9525">
            <a:solidFill>
              <a:srgbClr val="DCD4C2"/>
            </a:solidFill>
            <a:prstDash val="solid"/>
          </a:ln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/795a3683-a2d5-55e1-80ef-99492ab8aef4/scratchpad/deck/img/47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46519" y="0"/>
            <a:ext cx="414517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046519" y="0"/>
            <a:ext cx="0" cy="6858000"/>
          </a:xfrm>
          <a:prstGeom prst="line">
            <a:avLst/>
          </a:prstGeom>
          <a:noFill/>
          <a:ln w="12700">
            <a:solidFill>
              <a:srgbClr val="16181C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9722815" y="29260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9C97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IUT LE CREUSOT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548640" y="2651760"/>
            <a:ext cx="1280160" cy="1280160"/>
          </a:xfrm>
          <a:prstGeom prst="ellipse">
            <a:avLst/>
          </a:prstGeom>
          <a:solidFill>
            <a:srgbClr val="16181C"/>
          </a:solidFill>
          <a:ln/>
        </p:spPr>
      </p:sp>
      <p:sp>
        <p:nvSpPr>
          <p:cNvPr id="6" name="Shape 3"/>
          <p:cNvSpPr/>
          <p:nvPr/>
        </p:nvSpPr>
        <p:spPr>
          <a:xfrm>
            <a:off x="603504" y="2706624"/>
            <a:ext cx="1170432" cy="1170432"/>
          </a:xfrm>
          <a:prstGeom prst="ellipse">
            <a:avLst/>
          </a:prstGeom>
          <a:ln w="19050">
            <a:solidFill>
              <a:srgbClr val="C6543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265176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6F1E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2148840" y="283464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618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Opportunités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4114800"/>
            <a:ext cx="69494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8000"/>
              </a:lnSpc>
              <a:spcAft>
                <a:spcPts val="600"/>
              </a:spcAft>
              <a:buSzPct val="100000"/>
              <a:buChar char="–"/>
            </a:pPr>
            <a:r>
              <a:rPr lang="en-US" sz="125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des eaux aromatisées en croissance : + 6 % en 2024</a:t>
            </a:r>
            <a:endParaRPr lang="en-US" sz="1250" dirty="0"/>
          </a:p>
          <a:p>
            <a:pPr marL="177800" indent="-177800">
              <a:lnSpc>
                <a:spcPct val="118000"/>
              </a:lnSpc>
              <a:spcAft>
                <a:spcPts val="600"/>
              </a:spcAft>
              <a:buSzPct val="100000"/>
              <a:buChar char="–"/>
            </a:pPr>
            <a:r>
              <a:rPr lang="en-US" sz="125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Demande de boissons sans sucre, surtout chez les 18-30 ans</a:t>
            </a:r>
            <a:endParaRPr lang="en-US" sz="1250" dirty="0"/>
          </a:p>
          <a:p>
            <a:pPr marL="177800" indent="-177800">
              <a:lnSpc>
                <a:spcPct val="118000"/>
              </a:lnSpc>
              <a:spcAft>
                <a:spcPts val="600"/>
              </a:spcAft>
              <a:buSzPct val="100000"/>
              <a:buChar char="–"/>
            </a:pPr>
            <a:r>
              <a:rPr lang="en-US" sz="125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Notoriété et image premium d'evian déjà installées</a:t>
            </a:r>
            <a:endParaRPr lang="en-US" sz="1250" dirty="0"/>
          </a:p>
          <a:p>
            <a:pPr marL="177800" indent="-177800">
              <a:lnSpc>
                <a:spcPct val="118000"/>
              </a:lnSpc>
              <a:spcAft>
                <a:spcPts val="600"/>
              </a:spcAft>
              <a:buSzPct val="100000"/>
              <a:buChar char="–"/>
            </a:pPr>
            <a:r>
              <a:rPr lang="en-US" sz="125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nouvelle occasion de consommation : nomade, sport, bureau</a:t>
            </a:r>
            <a:endParaRPr lang="en-US" sz="1250" dirty="0"/>
          </a:p>
          <a:p>
            <a:pPr marL="177800" indent="-177800">
              <a:lnSpc>
                <a:spcPct val="118000"/>
              </a:lnSpc>
              <a:spcAft>
                <a:spcPts val="600"/>
              </a:spcAft>
              <a:buSzPct val="100000"/>
              <a:buChar char="–"/>
            </a:pPr>
            <a:r>
              <a:rPr lang="en-US" sz="125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packaging et rPET comme levier de différenciation RSE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11368735" y="6473952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97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02920" y="6510528"/>
            <a:ext cx="10728655" cy="0"/>
          </a:xfrm>
          <a:prstGeom prst="line">
            <a:avLst/>
          </a:prstGeom>
          <a:noFill/>
          <a:ln w="9525">
            <a:solidFill>
              <a:srgbClr val="DCD4C2"/>
            </a:solidFill>
            <a:prstDash val="solid"/>
          </a:ln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6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863840" y="-548640"/>
            <a:ext cx="45720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0" b="1" dirty="0">
                <a:solidFill>
                  <a:srgbClr val="1F21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2000" dirty="0"/>
          </a:p>
        </p:txBody>
      </p:sp>
      <p:sp>
        <p:nvSpPr>
          <p:cNvPr id="3" name="Shape 1"/>
          <p:cNvSpPr/>
          <p:nvPr/>
        </p:nvSpPr>
        <p:spPr>
          <a:xfrm>
            <a:off x="9784080" y="5120640"/>
            <a:ext cx="1737360" cy="1737360"/>
          </a:xfrm>
          <a:prstGeom prst="ellipse">
            <a:avLst/>
          </a:prstGeom>
          <a:solidFill>
            <a:srgbClr val="C6543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2697480"/>
            <a:ext cx="8778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5600" b="1" dirty="0">
                <a:solidFill>
                  <a:srgbClr val="F6F1E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Stratégie</a:t>
            </a:r>
            <a:endParaRPr lang="en-US" sz="5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5600" b="1" dirty="0">
                <a:solidFill>
                  <a:srgbClr val="F6F1E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Marketing</a:t>
            </a:r>
            <a:endParaRPr lang="en-US" sz="5600" dirty="0"/>
          </a:p>
        </p:txBody>
      </p:sp>
      <p:sp>
        <p:nvSpPr>
          <p:cNvPr id="5" name="Shape 3"/>
          <p:cNvSpPr/>
          <p:nvPr/>
        </p:nvSpPr>
        <p:spPr>
          <a:xfrm>
            <a:off x="594360" y="4892040"/>
            <a:ext cx="2377440" cy="0"/>
          </a:xfrm>
          <a:prstGeom prst="line">
            <a:avLst/>
          </a:prstGeom>
          <a:noFill/>
          <a:ln w="19050">
            <a:solidFill>
              <a:srgbClr val="AD8A5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722815" y="29260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8A8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IUT LE CREUSOT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368735" y="6473952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AE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02920" y="6510528"/>
            <a:ext cx="10728655" cy="0"/>
          </a:xfrm>
          <a:prstGeom prst="line">
            <a:avLst/>
          </a:prstGeom>
          <a:noFill/>
          <a:ln w="9525">
            <a:solidFill>
              <a:srgbClr val="2A2C30"/>
            </a:solidFill>
            <a:prstDash val="solid"/>
          </a:ln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1618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 produit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722815" y="29260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9C97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IUT LE CREUSOT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46304" cy="146304"/>
          </a:xfrm>
          <a:prstGeom prst="rect">
            <a:avLst/>
          </a:prstGeom>
          <a:solidFill>
            <a:srgbClr val="C6543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04672" y="1664208"/>
            <a:ext cx="5138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30" kern="0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L'opportunité identifiée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075688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8000"/>
              </a:lnSpc>
              <a:spcAft>
                <a:spcPts val="600"/>
              </a:spcAft>
              <a:buSzPct val="100000"/>
              <a:buChar char="–"/>
            </a:pPr>
            <a:r>
              <a:rPr lang="en-US" sz="115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Proposer plus de goût et de variété dans l'univers de l'eau</a:t>
            </a:r>
            <a:endParaRPr lang="en-US" sz="1150" dirty="0"/>
          </a:p>
          <a:p>
            <a:pPr marL="177800" indent="-177800">
              <a:lnSpc>
                <a:spcPct val="118000"/>
              </a:lnSpc>
              <a:spcAft>
                <a:spcPts val="600"/>
              </a:spcAft>
              <a:buSzPct val="100000"/>
              <a:buChar char="–"/>
            </a:pPr>
            <a:r>
              <a:rPr lang="en-US" sz="115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en conservant l'image naturelle et qualitative d'evian</a:t>
            </a:r>
            <a:endParaRPr lang="en-US" sz="1150" dirty="0"/>
          </a:p>
          <a:p>
            <a:pPr marL="177800" indent="-177800">
              <a:lnSpc>
                <a:spcPct val="118000"/>
              </a:lnSpc>
              <a:spcAft>
                <a:spcPts val="600"/>
              </a:spcAft>
              <a:buSzPct val="100000"/>
              <a:buChar char="–"/>
            </a:pPr>
            <a:r>
              <a:rPr lang="en-US" sz="115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offre intermédiaire entre l'eau classique et les boissons gourmandes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3200400"/>
            <a:ext cx="146304" cy="146304"/>
          </a:xfrm>
          <a:prstGeom prst="rect">
            <a:avLst/>
          </a:prstGeom>
          <a:solidFill>
            <a:srgbClr val="C6543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04672" y="3127248"/>
            <a:ext cx="5138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30" kern="0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produit : evian FRESH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538728"/>
            <a:ext cx="5394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8000"/>
              </a:lnSpc>
              <a:spcAft>
                <a:spcPts val="600"/>
              </a:spcAft>
              <a:buSzPct val="100000"/>
              <a:buChar char="–"/>
            </a:pPr>
            <a:r>
              <a:rPr lang="en-US" sz="115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Boisson aromatisée à base d'eau minérale naturelle evian</a:t>
            </a:r>
            <a:endParaRPr lang="en-US" sz="1150" dirty="0"/>
          </a:p>
          <a:p>
            <a:pPr marL="177800" indent="-177800">
              <a:lnSpc>
                <a:spcPct val="118000"/>
              </a:lnSpc>
              <a:spcAft>
                <a:spcPts val="600"/>
              </a:spcAft>
              <a:buSzPct val="100000"/>
              <a:buChar char="–"/>
            </a:pPr>
            <a:r>
              <a:rPr lang="en-US" sz="115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Arômes naturels, sans sucres ajoutés</a:t>
            </a:r>
            <a:endParaRPr lang="en-US" sz="1150" dirty="0"/>
          </a:p>
          <a:p>
            <a:pPr marL="177800" indent="-177800">
              <a:lnSpc>
                <a:spcPct val="118000"/>
              </a:lnSpc>
              <a:spcAft>
                <a:spcPts val="600"/>
              </a:spcAft>
              <a:buSzPct val="100000"/>
              <a:buChar char="–"/>
            </a:pPr>
            <a:r>
              <a:rPr lang="en-US" sz="115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L'objectif n'est pas de transformer evian en soda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4526280"/>
            <a:ext cx="146304" cy="146304"/>
          </a:xfrm>
          <a:prstGeom prst="rect">
            <a:avLst/>
          </a:prstGeom>
          <a:solidFill>
            <a:srgbClr val="C6543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04672" y="4453128"/>
            <a:ext cx="5138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30" kern="0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saveurs de la gamme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864608"/>
            <a:ext cx="5394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8000"/>
              </a:lnSpc>
              <a:spcAft>
                <a:spcPts val="600"/>
              </a:spcAft>
              <a:buSzPct val="100000"/>
              <a:buChar char="–"/>
            </a:pPr>
            <a:r>
              <a:rPr lang="en-US" sz="115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Fraise, citron, pêche et citron-menthe</a:t>
            </a:r>
            <a:endParaRPr lang="en-US" sz="1150" dirty="0"/>
          </a:p>
          <a:p>
            <a:pPr marL="177800" indent="-177800">
              <a:lnSpc>
                <a:spcPct val="118000"/>
              </a:lnSpc>
              <a:spcAft>
                <a:spcPts val="600"/>
              </a:spcAft>
              <a:buSzPct val="100000"/>
              <a:buChar char="–"/>
            </a:pPr>
            <a:r>
              <a:rPr lang="en-US" sz="115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goûts simples et connus, faciles à apprécier</a:t>
            </a:r>
            <a:endParaRPr lang="en-US" sz="1150" dirty="0"/>
          </a:p>
          <a:p>
            <a:pPr marL="177800" indent="-177800">
              <a:lnSpc>
                <a:spcPct val="118000"/>
              </a:lnSpc>
              <a:spcAft>
                <a:spcPts val="600"/>
              </a:spcAft>
              <a:buSzPct val="100000"/>
              <a:buChar char="–"/>
            </a:pPr>
            <a:r>
              <a:rPr lang="en-US" sz="115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reste dans l'univers frais et léger de l'eau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309360" y="1691640"/>
            <a:ext cx="5394960" cy="1051560"/>
          </a:xfrm>
          <a:prstGeom prst="rect">
            <a:avLst/>
          </a:prstGeom>
          <a:solidFill>
            <a:srgbClr val="EAE2D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537960" y="1691640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618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 Je veux une boisson rafraîchissante avec du goût, mais je ne veux pas forcément boire un soda. »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309360" y="3108960"/>
            <a:ext cx="146304" cy="146304"/>
          </a:xfrm>
          <a:prstGeom prst="rect">
            <a:avLst/>
          </a:prstGeom>
          <a:solidFill>
            <a:srgbClr val="C6543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565392" y="3035808"/>
            <a:ext cx="5138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30" kern="0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packaging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6309360" y="3447288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8000"/>
              </a:lnSpc>
              <a:spcAft>
                <a:spcPts val="600"/>
              </a:spcAft>
              <a:buSzPct val="100000"/>
              <a:buChar char="–"/>
            </a:pPr>
            <a:r>
              <a:rPr lang="en-US" sz="115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Reprend les codes visuels d'evian : blanc, référence aux Alpes</a:t>
            </a:r>
            <a:endParaRPr lang="en-US" sz="1150" dirty="0"/>
          </a:p>
          <a:p>
            <a:pPr marL="177800" indent="-177800">
              <a:lnSpc>
                <a:spcPct val="118000"/>
              </a:lnSpc>
              <a:spcAft>
                <a:spcPts val="600"/>
              </a:spcAft>
              <a:buSzPct val="100000"/>
              <a:buChar char="–"/>
            </a:pPr>
            <a:r>
              <a:rPr lang="en-US" sz="115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Reconnaissance immédiate de la marque en rayon</a:t>
            </a:r>
            <a:endParaRPr lang="en-US" sz="1150" dirty="0"/>
          </a:p>
          <a:p>
            <a:pPr marL="177800" indent="-177800">
              <a:lnSpc>
                <a:spcPct val="118000"/>
              </a:lnSpc>
              <a:spcAft>
                <a:spcPts val="600"/>
              </a:spcAft>
              <a:buSzPct val="100000"/>
              <a:buChar char="–"/>
            </a:pPr>
            <a:r>
              <a:rPr lang="en-US" sz="115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couleur du bouchon et de l'étiquette signale le parfum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11368735" y="6473952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97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02920" y="6510528"/>
            <a:ext cx="10728655" cy="0"/>
          </a:xfrm>
          <a:prstGeom prst="line">
            <a:avLst/>
          </a:prstGeom>
          <a:noFill/>
          <a:ln w="9525">
            <a:solidFill>
              <a:srgbClr val="DCD4C2"/>
            </a:solidFill>
            <a:prstDash val="solid"/>
          </a:ln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722815" y="29260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9C97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IUT LE CREUSOT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48640" y="594360"/>
            <a:ext cx="5387188" cy="2647188"/>
          </a:xfrm>
          <a:prstGeom prst="rect">
            <a:avLst/>
          </a:prstGeom>
          <a:solidFill>
            <a:srgbClr val="FFFFFF"/>
          </a:solidFill>
          <a:ln w="12700">
            <a:solidFill>
              <a:srgbClr val="E4DCC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896112"/>
            <a:ext cx="146304" cy="146304"/>
          </a:xfrm>
          <a:prstGeom prst="rect">
            <a:avLst/>
          </a:prstGeom>
          <a:solidFill>
            <a:srgbClr val="C6543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78992" y="822960"/>
            <a:ext cx="45825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30" kern="0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Cœur de cible : les 18-30 ans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234440"/>
            <a:ext cx="4838548" cy="20071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8000"/>
              </a:lnSpc>
              <a:spcAft>
                <a:spcPts val="600"/>
              </a:spcAft>
              <a:buSzPct val="100000"/>
              <a:buChar char="–"/>
            </a:pPr>
            <a:r>
              <a:rPr lang="en-US" sz="115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Étudiants et jeunes actifs</a:t>
            </a:r>
            <a:endParaRPr lang="en-US" sz="1150" dirty="0"/>
          </a:p>
          <a:p>
            <a:pPr marL="177800" indent="-177800">
              <a:lnSpc>
                <a:spcPct val="118000"/>
              </a:lnSpc>
              <a:spcAft>
                <a:spcPts val="600"/>
              </a:spcAft>
              <a:buSzPct val="100000"/>
              <a:buChar char="–"/>
            </a:pPr>
            <a:r>
              <a:rPr lang="en-US" sz="115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de vie mobile, recherche de praticité</a:t>
            </a:r>
            <a:endParaRPr lang="en-US" sz="1150" dirty="0"/>
          </a:p>
          <a:p>
            <a:pPr marL="177800" indent="-177800">
              <a:lnSpc>
                <a:spcPct val="118000"/>
              </a:lnSpc>
              <a:spcAft>
                <a:spcPts val="600"/>
              </a:spcAft>
              <a:buSzPct val="100000"/>
              <a:buChar char="–"/>
            </a:pPr>
            <a:r>
              <a:rPr lang="en-US" sz="115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Exposés aux nouvelles tendances alimentaires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255868" y="594360"/>
            <a:ext cx="5387188" cy="2647188"/>
          </a:xfrm>
          <a:prstGeom prst="rect">
            <a:avLst/>
          </a:prstGeom>
          <a:solidFill>
            <a:srgbClr val="FFFFFF"/>
          </a:solidFill>
          <a:ln w="12700">
            <a:solidFill>
              <a:srgbClr val="E4DCC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30188" y="896112"/>
            <a:ext cx="146304" cy="146304"/>
          </a:xfrm>
          <a:prstGeom prst="rect">
            <a:avLst/>
          </a:prstGeom>
          <a:solidFill>
            <a:srgbClr val="C6543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786220" y="822960"/>
            <a:ext cx="45825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30" kern="0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Cible secondaire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6530188" y="1234440"/>
            <a:ext cx="4838548" cy="20071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8000"/>
              </a:lnSpc>
              <a:spcAft>
                <a:spcPts val="600"/>
              </a:spcAft>
              <a:buSzPct val="100000"/>
              <a:buChar char="–"/>
            </a:pPr>
            <a:r>
              <a:rPr lang="en-US" sz="115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Adultes actifs et familles</a:t>
            </a:r>
            <a:endParaRPr lang="en-US" sz="1150" dirty="0"/>
          </a:p>
          <a:p>
            <a:pPr marL="177800" indent="-177800">
              <a:lnSpc>
                <a:spcPct val="118000"/>
              </a:lnSpc>
              <a:spcAft>
                <a:spcPts val="600"/>
              </a:spcAft>
              <a:buSzPct val="100000"/>
              <a:buChar char="–"/>
            </a:pPr>
            <a:r>
              <a:rPr lang="en-US" sz="115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alternative quand on veut changer de l'eau classique</a:t>
            </a:r>
            <a:endParaRPr lang="en-US" sz="1150" dirty="0"/>
          </a:p>
          <a:p>
            <a:pPr marL="177800" indent="-177800">
              <a:lnSpc>
                <a:spcPct val="118000"/>
              </a:lnSpc>
              <a:spcAft>
                <a:spcPts val="600"/>
              </a:spcAft>
              <a:buSzPct val="100000"/>
              <a:buChar char="–"/>
            </a:pPr>
            <a:r>
              <a:rPr lang="en-US" sz="115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 éviter les boissons très sucrées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3561588"/>
            <a:ext cx="5387188" cy="2647188"/>
          </a:xfrm>
          <a:prstGeom prst="rect">
            <a:avLst/>
          </a:prstGeom>
          <a:solidFill>
            <a:srgbClr val="FFFFFF"/>
          </a:solidFill>
          <a:ln w="12700">
            <a:solidFill>
              <a:srgbClr val="E4DCC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3863340"/>
            <a:ext cx="146304" cy="146304"/>
          </a:xfrm>
          <a:prstGeom prst="rect">
            <a:avLst/>
          </a:prstGeom>
          <a:solidFill>
            <a:srgbClr val="C6543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78992" y="3790188"/>
            <a:ext cx="45825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30" kern="0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cette cible ?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201668"/>
            <a:ext cx="4838548" cy="20071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8000"/>
              </a:lnSpc>
              <a:spcAft>
                <a:spcPts val="600"/>
              </a:spcAft>
              <a:buSzPct val="100000"/>
              <a:buChar char="–"/>
            </a:pPr>
            <a:r>
              <a:rPr lang="en-US" sz="115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jeunes remplacent de plus en plus les sodas par des eaux aromatisées</a:t>
            </a:r>
            <a:endParaRPr lang="en-US" sz="1150" dirty="0"/>
          </a:p>
          <a:p>
            <a:pPr marL="177800" indent="-177800">
              <a:lnSpc>
                <a:spcPct val="118000"/>
              </a:lnSpc>
              <a:spcAft>
                <a:spcPts val="600"/>
              </a:spcAft>
              <a:buSzPct val="100000"/>
              <a:buChar char="–"/>
            </a:pPr>
            <a:r>
              <a:rPr lang="en-US" sz="115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Ils sont sensibles au sucre et au « healthy »</a:t>
            </a:r>
            <a:endParaRPr lang="en-US" sz="1150" dirty="0"/>
          </a:p>
          <a:p>
            <a:pPr marL="177800" indent="-177800">
              <a:lnSpc>
                <a:spcPct val="118000"/>
              </a:lnSpc>
              <a:spcAft>
                <a:spcPts val="600"/>
              </a:spcAft>
              <a:buSzPct val="100000"/>
              <a:buChar char="–"/>
            </a:pPr>
            <a:r>
              <a:rPr lang="en-US" sz="115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Ils consomment en mobilité : sport, bureau, sortie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55868" y="3561588"/>
            <a:ext cx="5387188" cy="2647188"/>
          </a:xfrm>
          <a:prstGeom prst="rect">
            <a:avLst/>
          </a:prstGeom>
          <a:solidFill>
            <a:srgbClr val="FFFFFF"/>
          </a:solidFill>
          <a:ln w="12700">
            <a:solidFill>
              <a:srgbClr val="E4DCC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30188" y="3863340"/>
            <a:ext cx="146304" cy="146304"/>
          </a:xfrm>
          <a:prstGeom prst="rect">
            <a:avLst/>
          </a:prstGeom>
          <a:solidFill>
            <a:srgbClr val="C6543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786220" y="3790188"/>
            <a:ext cx="45825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30" kern="0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Notre objectif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6530188" y="4201668"/>
            <a:ext cx="4838548" cy="20071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8000"/>
              </a:lnSpc>
              <a:spcAft>
                <a:spcPts val="600"/>
              </a:spcAft>
              <a:buSzPct val="100000"/>
              <a:buChar char="–"/>
            </a:pPr>
            <a:r>
              <a:rPr lang="en-US" sz="115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pas abandonner les consommateurs actuels d'evian</a:t>
            </a:r>
            <a:endParaRPr lang="en-US" sz="1150" dirty="0"/>
          </a:p>
          <a:p>
            <a:pPr marL="177800" indent="-177800">
              <a:lnSpc>
                <a:spcPct val="118000"/>
              </a:lnSpc>
              <a:spcAft>
                <a:spcPts val="600"/>
              </a:spcAft>
              <a:buSzPct val="100000"/>
              <a:buChar char="–"/>
            </a:pPr>
            <a:r>
              <a:rPr lang="en-US" sz="115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Compléter la clientèle de la marque</a:t>
            </a:r>
            <a:endParaRPr lang="en-US" sz="1150" dirty="0"/>
          </a:p>
          <a:p>
            <a:pPr marL="177800" indent="-177800">
              <a:lnSpc>
                <a:spcPct val="118000"/>
              </a:lnSpc>
              <a:spcAft>
                <a:spcPts val="600"/>
              </a:spcAft>
              <a:buSzPct val="100000"/>
              <a:buChar char="–"/>
            </a:pPr>
            <a:r>
              <a:rPr lang="en-US" sz="115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Rajeunir l'image sans rupture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11368735" y="6473952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97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2920" y="6510528"/>
            <a:ext cx="10728655" cy="0"/>
          </a:xfrm>
          <a:prstGeom prst="line">
            <a:avLst/>
          </a:prstGeom>
          <a:noFill/>
          <a:ln w="9525">
            <a:solidFill>
              <a:srgbClr val="DCD4C2"/>
            </a:solidFill>
            <a:prstDash val="solid"/>
          </a:ln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722815" y="29260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9C97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IUT LE CREUSOT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48640" y="594360"/>
            <a:ext cx="5387188" cy="2647188"/>
          </a:xfrm>
          <a:prstGeom prst="rect">
            <a:avLst/>
          </a:prstGeom>
          <a:solidFill>
            <a:srgbClr val="FFFFFF"/>
          </a:solidFill>
          <a:ln w="12700">
            <a:solidFill>
              <a:srgbClr val="E4DCC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896112"/>
            <a:ext cx="146304" cy="146304"/>
          </a:xfrm>
          <a:prstGeom prst="rect">
            <a:avLst/>
          </a:prstGeom>
          <a:solidFill>
            <a:srgbClr val="C6543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78992" y="822960"/>
            <a:ext cx="45825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30" kern="0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deux univers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234440"/>
            <a:ext cx="4838548" cy="20071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8000"/>
              </a:lnSpc>
              <a:spcAft>
                <a:spcPts val="600"/>
              </a:spcAft>
              <a:buSzPct val="100000"/>
              <a:buChar char="–"/>
            </a:pPr>
            <a:r>
              <a:rPr lang="en-US" sz="115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L'eau : naturalité, légèreté, image premium</a:t>
            </a:r>
            <a:endParaRPr lang="en-US" sz="1150" dirty="0"/>
          </a:p>
          <a:p>
            <a:pPr marL="177800" indent="-177800">
              <a:lnSpc>
                <a:spcPct val="118000"/>
              </a:lnSpc>
              <a:spcAft>
                <a:spcPts val="600"/>
              </a:spcAft>
              <a:buSzPct val="100000"/>
              <a:buChar char="–"/>
            </a:pPr>
            <a:r>
              <a:rPr lang="en-US" sz="115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boissons plaisir : goût marqué, gourmandise</a:t>
            </a:r>
            <a:endParaRPr lang="en-US" sz="1150" dirty="0"/>
          </a:p>
          <a:p>
            <a:pPr marL="177800" indent="-177800">
              <a:lnSpc>
                <a:spcPct val="118000"/>
              </a:lnSpc>
              <a:spcAft>
                <a:spcPts val="600"/>
              </a:spcAft>
              <a:buSzPct val="100000"/>
              <a:buChar char="–"/>
            </a:pPr>
            <a:r>
              <a:rPr lang="en-US" sz="115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evian FRESH occupe l'espace intermédiaire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255868" y="594360"/>
            <a:ext cx="5387188" cy="2647188"/>
          </a:xfrm>
          <a:prstGeom prst="rect">
            <a:avLst/>
          </a:prstGeom>
          <a:solidFill>
            <a:srgbClr val="FFFFFF"/>
          </a:solidFill>
          <a:ln w="12700">
            <a:solidFill>
              <a:srgbClr val="E4DCC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30188" y="896112"/>
            <a:ext cx="146304" cy="146304"/>
          </a:xfrm>
          <a:prstGeom prst="rect">
            <a:avLst/>
          </a:prstGeom>
          <a:solidFill>
            <a:srgbClr val="C6543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786220" y="822960"/>
            <a:ext cx="45825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30" kern="0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Notre carte de positionnement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6530188" y="1234440"/>
            <a:ext cx="4838548" cy="20071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8000"/>
              </a:lnSpc>
              <a:spcAft>
                <a:spcPts val="600"/>
              </a:spcAft>
              <a:buSzPct val="100000"/>
              <a:buChar char="–"/>
            </a:pPr>
            <a:r>
              <a:rPr lang="en-US" sz="115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Axe 1 : goût peu marqué → goût intense</a:t>
            </a:r>
            <a:endParaRPr lang="en-US" sz="1150" dirty="0"/>
          </a:p>
          <a:p>
            <a:pPr marL="177800" indent="-177800">
              <a:lnSpc>
                <a:spcPct val="118000"/>
              </a:lnSpc>
              <a:spcAft>
                <a:spcPts val="600"/>
              </a:spcAft>
              <a:buSzPct val="100000"/>
              <a:buChar char="–"/>
            </a:pPr>
            <a:r>
              <a:rPr lang="en-US" sz="115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Axe 2 : image accessible → image premium</a:t>
            </a:r>
            <a:endParaRPr lang="en-US" sz="1150" dirty="0"/>
          </a:p>
          <a:p>
            <a:pPr marL="177800" indent="-177800">
              <a:lnSpc>
                <a:spcPct val="118000"/>
              </a:lnSpc>
              <a:spcAft>
                <a:spcPts val="600"/>
              </a:spcAft>
              <a:buSzPct val="100000"/>
              <a:buChar char="–"/>
            </a:pPr>
            <a:r>
              <a:rPr lang="en-US" sz="115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evian classique : goût léger, image premium</a:t>
            </a:r>
            <a:endParaRPr lang="en-US" sz="1150" dirty="0"/>
          </a:p>
          <a:p>
            <a:pPr marL="177800" indent="-177800">
              <a:lnSpc>
                <a:spcPct val="118000"/>
              </a:lnSpc>
              <a:spcAft>
                <a:spcPts val="600"/>
              </a:spcAft>
              <a:buSzPct val="100000"/>
              <a:buChar char="–"/>
            </a:pPr>
            <a:r>
              <a:rPr lang="en-US" sz="115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Sodas : goût intense, image accessible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3561588"/>
            <a:ext cx="5387188" cy="2647188"/>
          </a:xfrm>
          <a:prstGeom prst="rect">
            <a:avLst/>
          </a:prstGeom>
          <a:solidFill>
            <a:srgbClr val="FFFFFF"/>
          </a:solidFill>
          <a:ln w="12700">
            <a:solidFill>
              <a:srgbClr val="E4DCC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3863340"/>
            <a:ext cx="146304" cy="146304"/>
          </a:xfrm>
          <a:prstGeom prst="rect">
            <a:avLst/>
          </a:prstGeom>
          <a:solidFill>
            <a:srgbClr val="C6543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78992" y="3790188"/>
            <a:ext cx="45825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30" kern="0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place d'Evian FRESH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201668"/>
            <a:ext cx="4838548" cy="20071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8000"/>
              </a:lnSpc>
              <a:spcAft>
                <a:spcPts val="600"/>
              </a:spcAft>
              <a:buSzPct val="100000"/>
              <a:buChar char="–"/>
            </a:pPr>
            <a:r>
              <a:rPr lang="en-US" sz="115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de goût qu'une eau classique</a:t>
            </a:r>
            <a:endParaRPr lang="en-US" sz="1150" dirty="0"/>
          </a:p>
          <a:p>
            <a:pPr marL="177800" indent="-177800">
              <a:lnSpc>
                <a:spcPct val="118000"/>
              </a:lnSpc>
              <a:spcAft>
                <a:spcPts val="600"/>
              </a:spcAft>
              <a:buSzPct val="100000"/>
              <a:buChar char="–"/>
            </a:pPr>
            <a:r>
              <a:rPr lang="en-US" sz="115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image plus légère et premium qu'un soda</a:t>
            </a:r>
            <a:endParaRPr lang="en-US" sz="1150" dirty="0"/>
          </a:p>
          <a:p>
            <a:pPr marL="177800" indent="-177800">
              <a:lnSpc>
                <a:spcPct val="118000"/>
              </a:lnSpc>
              <a:spcAft>
                <a:spcPts val="600"/>
              </a:spcAft>
              <a:buSzPct val="100000"/>
              <a:buChar char="–"/>
            </a:pPr>
            <a:r>
              <a:rPr lang="en-US" sz="115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boisson moderne, rafraîchissante et qualitative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55868" y="3561588"/>
            <a:ext cx="5387188" cy="2647188"/>
          </a:xfrm>
          <a:prstGeom prst="rect">
            <a:avLst/>
          </a:prstGeom>
          <a:solidFill>
            <a:srgbClr val="FFFFFF"/>
          </a:solidFill>
          <a:ln w="12700">
            <a:solidFill>
              <a:srgbClr val="E4DCC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30188" y="3863340"/>
            <a:ext cx="146304" cy="146304"/>
          </a:xfrm>
          <a:prstGeom prst="rect">
            <a:avLst/>
          </a:prstGeom>
          <a:solidFill>
            <a:srgbClr val="C6543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786220" y="3790188"/>
            <a:ext cx="45825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30" kern="0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Notre promesse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6530188" y="4201668"/>
            <a:ext cx="4838548" cy="20071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8000"/>
              </a:lnSpc>
              <a:spcAft>
                <a:spcPts val="600"/>
              </a:spcAft>
              <a:buSzPct val="100000"/>
              <a:buChar char="–"/>
            </a:pPr>
            <a:r>
              <a:rPr lang="en-US" sz="1150" i="1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Le goût que vous choisissez, l'eau Evian que vous connaissez. »</a:t>
            </a:r>
            <a:endParaRPr lang="en-US" sz="1150" dirty="0"/>
          </a:p>
          <a:p>
            <a:pPr marL="177800" indent="-177800">
              <a:lnSpc>
                <a:spcPct val="118000"/>
              </a:lnSpc>
              <a:spcAft>
                <a:spcPts val="600"/>
              </a:spcAft>
              <a:buSzPct val="100000"/>
              <a:buChar char="–"/>
            </a:pPr>
            <a:r>
              <a:rPr lang="en-US" sz="1150" i="1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Le plaisir du goût, sans abandonner l'univers naturel et premium d'Evian. »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11368735" y="6473952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97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2920" y="6510528"/>
            <a:ext cx="10728655" cy="0"/>
          </a:xfrm>
          <a:prstGeom prst="line">
            <a:avLst/>
          </a:prstGeom>
          <a:noFill/>
          <a:ln w="9525">
            <a:solidFill>
              <a:srgbClr val="DCD4C2"/>
            </a:solidFill>
            <a:prstDash val="solid"/>
          </a:ln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722815" y="29260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9C97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IUT LE CREUSOT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48640" y="594360"/>
            <a:ext cx="5387188" cy="2647188"/>
          </a:xfrm>
          <a:prstGeom prst="rect">
            <a:avLst/>
          </a:prstGeom>
          <a:solidFill>
            <a:srgbClr val="FFFFFF"/>
          </a:solidFill>
          <a:ln w="12700">
            <a:solidFill>
              <a:srgbClr val="E4DCC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896112"/>
            <a:ext cx="146304" cy="146304"/>
          </a:xfrm>
          <a:prstGeom prst="rect">
            <a:avLst/>
          </a:prstGeom>
          <a:solidFill>
            <a:srgbClr val="C6543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78992" y="822960"/>
            <a:ext cx="45825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30" kern="0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Rester fidèle à l'identité Evian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234440"/>
            <a:ext cx="4838548" cy="20071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8000"/>
              </a:lnSpc>
              <a:spcAft>
                <a:spcPts val="600"/>
              </a:spcAft>
              <a:buSzPct val="100000"/>
              <a:buChar char="–"/>
            </a:pPr>
            <a:r>
              <a:rPr lang="en-US" sz="115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Conserver la qualité de l'eau, l'origine alpine, la fraîcheur</a:t>
            </a:r>
            <a:endParaRPr lang="en-US" sz="1150" dirty="0"/>
          </a:p>
          <a:p>
            <a:pPr marL="177800" indent="-177800">
              <a:lnSpc>
                <a:spcPct val="118000"/>
              </a:lnSpc>
              <a:spcAft>
                <a:spcPts val="600"/>
              </a:spcAft>
              <a:buSzPct val="100000"/>
              <a:buChar char="–"/>
            </a:pPr>
            <a:r>
              <a:rPr lang="en-US" sz="115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Evian ne devient pas une marque de soda</a:t>
            </a:r>
            <a:endParaRPr lang="en-US" sz="1150" dirty="0"/>
          </a:p>
          <a:p>
            <a:pPr marL="177800" indent="-177800">
              <a:lnSpc>
                <a:spcPct val="118000"/>
              </a:lnSpc>
              <a:spcAft>
                <a:spcPts val="600"/>
              </a:spcAft>
              <a:buSzPct val="100000"/>
              <a:buChar char="–"/>
            </a:pPr>
            <a:r>
              <a:rPr lang="en-US" sz="115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L'innovation porte sur le goût et l'expérience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255868" y="594360"/>
            <a:ext cx="5387188" cy="2647188"/>
          </a:xfrm>
          <a:prstGeom prst="rect">
            <a:avLst/>
          </a:prstGeom>
          <a:solidFill>
            <a:srgbClr val="FFFFFF"/>
          </a:solidFill>
          <a:ln w="12700">
            <a:solidFill>
              <a:srgbClr val="E4DCC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30188" y="896112"/>
            <a:ext cx="146304" cy="146304"/>
          </a:xfrm>
          <a:prstGeom prst="rect">
            <a:avLst/>
          </a:prstGeom>
          <a:solidFill>
            <a:srgbClr val="C6543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786220" y="822960"/>
            <a:ext cx="45825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30" kern="0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atouts de la marque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6530188" y="1234440"/>
            <a:ext cx="4838548" cy="20071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8000"/>
              </a:lnSpc>
              <a:spcAft>
                <a:spcPts val="600"/>
              </a:spcAft>
              <a:buSzPct val="100000"/>
              <a:buChar char="–"/>
            </a:pPr>
            <a:r>
              <a:rPr lang="en-US" sz="115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eau des Alpes françaises</a:t>
            </a:r>
            <a:endParaRPr lang="en-US" sz="1150" dirty="0"/>
          </a:p>
          <a:p>
            <a:pPr marL="177800" indent="-177800">
              <a:lnSpc>
                <a:spcPct val="118000"/>
              </a:lnSpc>
              <a:spcAft>
                <a:spcPts val="600"/>
              </a:spcAft>
              <a:buSzPct val="100000"/>
              <a:buChar char="–"/>
            </a:pPr>
            <a:r>
              <a:rPr lang="en-US" sz="115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filtration naturelle pendant plus de 15 ans</a:t>
            </a:r>
            <a:endParaRPr lang="en-US" sz="1150" dirty="0"/>
          </a:p>
          <a:p>
            <a:pPr marL="177800" indent="-177800">
              <a:lnSpc>
                <a:spcPct val="118000"/>
              </a:lnSpc>
              <a:spcAft>
                <a:spcPts val="600"/>
              </a:spcAft>
              <a:buSzPct val="100000"/>
              <a:buChar char="–"/>
            </a:pPr>
            <a:r>
              <a:rPr lang="en-US" sz="115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goût frais et léger déjà reconnu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3561588"/>
            <a:ext cx="5387188" cy="2647188"/>
          </a:xfrm>
          <a:prstGeom prst="rect">
            <a:avLst/>
          </a:prstGeom>
          <a:solidFill>
            <a:srgbClr val="FFFFFF"/>
          </a:solidFill>
          <a:ln w="12700">
            <a:solidFill>
              <a:srgbClr val="E4DCC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3863340"/>
            <a:ext cx="146304" cy="146304"/>
          </a:xfrm>
          <a:prstGeom prst="rect">
            <a:avLst/>
          </a:prstGeom>
          <a:solidFill>
            <a:srgbClr val="C6543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78992" y="3790188"/>
            <a:ext cx="45825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30" kern="0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diversification, pas une rupture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201668"/>
            <a:ext cx="4838548" cy="20071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8000"/>
              </a:lnSpc>
              <a:spcAft>
                <a:spcPts val="600"/>
              </a:spcAft>
              <a:buSzPct val="100000"/>
              <a:buChar char="–"/>
            </a:pPr>
            <a:r>
              <a:rPr lang="en-US" sz="115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gamme propose déjà plusieurs formats et de l'eau pétillante</a:t>
            </a:r>
            <a:endParaRPr lang="en-US" sz="1150" dirty="0"/>
          </a:p>
          <a:p>
            <a:pPr marL="177800" indent="-177800">
              <a:lnSpc>
                <a:spcPct val="118000"/>
              </a:lnSpc>
              <a:spcAft>
                <a:spcPts val="600"/>
              </a:spcAft>
              <a:buSzPct val="100000"/>
              <a:buChar char="–"/>
            </a:pPr>
            <a:r>
              <a:rPr lang="en-US" sz="115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Evian FRESH s'inscrit dans une logique d'extension de gamme</a:t>
            </a:r>
            <a:endParaRPr lang="en-US" sz="1150" dirty="0"/>
          </a:p>
          <a:p>
            <a:pPr marL="177800" indent="-177800">
              <a:lnSpc>
                <a:spcPct val="118000"/>
              </a:lnSpc>
              <a:spcAft>
                <a:spcPts val="600"/>
              </a:spcAft>
              <a:buSzPct val="100000"/>
              <a:buChar char="–"/>
            </a:pPr>
            <a:r>
              <a:rPr lang="en-US" sz="115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évolution de la marque, pas une rupture historique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55868" y="3561588"/>
            <a:ext cx="5387188" cy="2647188"/>
          </a:xfrm>
          <a:prstGeom prst="rect">
            <a:avLst/>
          </a:prstGeom>
          <a:solidFill>
            <a:srgbClr val="FFFFFF"/>
          </a:solidFill>
          <a:ln w="12700">
            <a:solidFill>
              <a:srgbClr val="E4DCC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30188" y="3863340"/>
            <a:ext cx="146304" cy="146304"/>
          </a:xfrm>
          <a:prstGeom prst="rect">
            <a:avLst/>
          </a:prstGeom>
          <a:solidFill>
            <a:srgbClr val="C6543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786220" y="3790188"/>
            <a:ext cx="45825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30" kern="0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cela apporte à Evian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6530188" y="4201668"/>
            <a:ext cx="4838548" cy="20071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8000"/>
              </a:lnSpc>
              <a:spcAft>
                <a:spcPts val="600"/>
              </a:spcAft>
              <a:buSzPct val="100000"/>
              <a:buChar char="–"/>
            </a:pPr>
            <a:r>
              <a:rPr lang="en-US" sz="115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nouvelle occasion de consommation</a:t>
            </a:r>
            <a:endParaRPr lang="en-US" sz="1150" dirty="0"/>
          </a:p>
          <a:p>
            <a:pPr marL="177800" indent="-177800">
              <a:lnSpc>
                <a:spcPct val="118000"/>
              </a:lnSpc>
              <a:spcAft>
                <a:spcPts val="600"/>
              </a:spcAft>
              <a:buSzPct val="100000"/>
              <a:buChar char="–"/>
            </a:pPr>
            <a:r>
              <a:rPr lang="en-US" sz="115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cible plus jeune touchée</a:t>
            </a:r>
            <a:endParaRPr lang="en-US" sz="1150" dirty="0"/>
          </a:p>
          <a:p>
            <a:pPr marL="177800" indent="-177800">
              <a:lnSpc>
                <a:spcPct val="118000"/>
              </a:lnSpc>
              <a:spcAft>
                <a:spcPts val="600"/>
              </a:spcAft>
              <a:buSzPct val="100000"/>
              <a:buChar char="–"/>
            </a:pPr>
            <a:r>
              <a:rPr lang="en-US" sz="115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relais de croissance sur un segment porteur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11368735" y="6473952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97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2920" y="6510528"/>
            <a:ext cx="10728655" cy="0"/>
          </a:xfrm>
          <a:prstGeom prst="line">
            <a:avLst/>
          </a:prstGeom>
          <a:noFill/>
          <a:ln w="9525">
            <a:solidFill>
              <a:srgbClr val="DCD4C2"/>
            </a:solidFill>
            <a:prstDash val="solid"/>
          </a:ln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6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863840" y="-548640"/>
            <a:ext cx="45720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0" b="1" dirty="0">
                <a:solidFill>
                  <a:srgbClr val="1F21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2000" dirty="0"/>
          </a:p>
        </p:txBody>
      </p:sp>
      <p:sp>
        <p:nvSpPr>
          <p:cNvPr id="3" name="Shape 1"/>
          <p:cNvSpPr/>
          <p:nvPr/>
        </p:nvSpPr>
        <p:spPr>
          <a:xfrm>
            <a:off x="9784080" y="5120640"/>
            <a:ext cx="1737360" cy="1737360"/>
          </a:xfrm>
          <a:prstGeom prst="ellipse">
            <a:avLst/>
          </a:prstGeom>
          <a:solidFill>
            <a:srgbClr val="C6543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2697480"/>
            <a:ext cx="8778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5600" b="1" dirty="0">
                <a:solidFill>
                  <a:srgbClr val="F6F1E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Mix</a:t>
            </a:r>
            <a:endParaRPr lang="en-US" sz="5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5600" b="1" dirty="0">
                <a:solidFill>
                  <a:srgbClr val="F6F1E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Marketing</a:t>
            </a:r>
            <a:endParaRPr lang="en-US" sz="5600" dirty="0"/>
          </a:p>
        </p:txBody>
      </p:sp>
      <p:sp>
        <p:nvSpPr>
          <p:cNvPr id="5" name="Shape 3"/>
          <p:cNvSpPr/>
          <p:nvPr/>
        </p:nvSpPr>
        <p:spPr>
          <a:xfrm>
            <a:off x="594360" y="4892040"/>
            <a:ext cx="2377440" cy="0"/>
          </a:xfrm>
          <a:prstGeom prst="line">
            <a:avLst/>
          </a:prstGeom>
          <a:noFill/>
          <a:ln w="19050">
            <a:solidFill>
              <a:srgbClr val="AD8A5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722815" y="29260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8A8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IUT LE CREUSOT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368735" y="6473952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AE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02920" y="6510528"/>
            <a:ext cx="10728655" cy="0"/>
          </a:xfrm>
          <a:prstGeom prst="line">
            <a:avLst/>
          </a:prstGeom>
          <a:noFill/>
          <a:ln w="9525">
            <a:solidFill>
              <a:srgbClr val="2A2C30"/>
            </a:solidFill>
            <a:prstDash val="solid"/>
          </a:ln>
        </p:spPr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1618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Produit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722815" y="29260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9C97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IUT LE CREUSOT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46304" cy="146304"/>
          </a:xfrm>
          <a:prstGeom prst="rect">
            <a:avLst/>
          </a:prstGeom>
          <a:solidFill>
            <a:srgbClr val="C6543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04672" y="1664208"/>
            <a:ext cx="5138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30" kern="0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gamme evian FRESH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075688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8000"/>
              </a:lnSpc>
              <a:spcAft>
                <a:spcPts val="600"/>
              </a:spcAft>
              <a:buSzPct val="100000"/>
              <a:buChar char="–"/>
            </a:pPr>
            <a:r>
              <a:rPr lang="en-US" sz="120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gamme volontairement resserrée pour le lancement</a:t>
            </a:r>
            <a:endParaRPr lang="en-US" sz="1200" dirty="0"/>
          </a:p>
          <a:p>
            <a:pPr marL="177800" indent="-177800">
              <a:lnSpc>
                <a:spcPct val="118000"/>
              </a:lnSpc>
              <a:spcAft>
                <a:spcPts val="600"/>
              </a:spcAft>
              <a:buSzPct val="100000"/>
              <a:buChar char="–"/>
            </a:pPr>
            <a:r>
              <a:rPr lang="en-US" sz="120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parfums : fraise, citron, pêche et citron-menthe</a:t>
            </a:r>
            <a:endParaRPr lang="en-US" sz="1200" dirty="0"/>
          </a:p>
          <a:p>
            <a:pPr marL="177800" indent="-177800">
              <a:lnSpc>
                <a:spcPct val="118000"/>
              </a:lnSpc>
              <a:spcAft>
                <a:spcPts val="600"/>
              </a:spcAft>
              <a:buSzPct val="100000"/>
              <a:buChar char="–"/>
            </a:pPr>
            <a:r>
              <a:rPr lang="en-US" sz="120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Eau minérale naturelle evian, arômes naturels, sans sucres ajoutés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3383280"/>
            <a:ext cx="146304" cy="146304"/>
          </a:xfrm>
          <a:prstGeom prst="rect">
            <a:avLst/>
          </a:prstGeom>
          <a:solidFill>
            <a:srgbClr val="C6543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04672" y="3310128"/>
            <a:ext cx="5138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30" kern="0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qui différencie evian FRESH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721608"/>
            <a:ext cx="5394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8000"/>
              </a:lnSpc>
              <a:spcAft>
                <a:spcPts val="600"/>
              </a:spcAft>
              <a:buSzPct val="100000"/>
              <a:buChar char="–"/>
            </a:pPr>
            <a:r>
              <a:rPr lang="en-US" sz="120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plaisir du goût sans les sucres d'un soda</a:t>
            </a:r>
            <a:endParaRPr lang="en-US" sz="1200" dirty="0"/>
          </a:p>
          <a:p>
            <a:pPr marL="177800" indent="-177800">
              <a:lnSpc>
                <a:spcPct val="118000"/>
              </a:lnSpc>
              <a:spcAft>
                <a:spcPts val="600"/>
              </a:spcAft>
              <a:buSzPct val="100000"/>
              <a:buChar char="–"/>
            </a:pPr>
            <a:r>
              <a:rPr lang="en-US" sz="120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L'origine alpine et la qualité de l'eau evian conservées</a:t>
            </a:r>
            <a:endParaRPr lang="en-US" sz="1200" dirty="0"/>
          </a:p>
          <a:p>
            <a:pPr marL="177800" indent="-177800">
              <a:lnSpc>
                <a:spcPct val="118000"/>
              </a:lnSpc>
              <a:spcAft>
                <a:spcPts val="600"/>
              </a:spcAft>
              <a:buSzPct val="100000"/>
              <a:buChar char="–"/>
            </a:pPr>
            <a:r>
              <a:rPr lang="en-US" sz="120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format nomade adapté à la consommation hors foyer</a:t>
            </a:r>
            <a:endParaRPr lang="en-US" sz="1200" dirty="0"/>
          </a:p>
          <a:p>
            <a:pPr marL="177800" indent="-177800">
              <a:lnSpc>
                <a:spcPct val="118000"/>
              </a:lnSpc>
              <a:spcAft>
                <a:spcPts val="600"/>
              </a:spcAft>
              <a:buSzPct val="100000"/>
              <a:buChar char="–"/>
            </a:pPr>
            <a:r>
              <a:rPr lang="en-US" sz="120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gamme étroite au lancement, élargie si le produit s'installe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09360" y="1737360"/>
            <a:ext cx="146304" cy="146304"/>
          </a:xfrm>
          <a:prstGeom prst="rect">
            <a:avLst/>
          </a:prstGeom>
          <a:solidFill>
            <a:srgbClr val="C6543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65392" y="1664208"/>
            <a:ext cx="5138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" kern="0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packaging — une bouteille reconnaissable, une couleur par parfum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309360" y="2075688"/>
            <a:ext cx="53949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8000"/>
              </a:lnSpc>
              <a:spcAft>
                <a:spcPts val="600"/>
              </a:spcAft>
              <a:buSzPct val="100000"/>
              <a:buChar char="–"/>
            </a:pPr>
            <a:r>
              <a:rPr lang="en-US" sz="120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Même forme que la bouteille evian actuelle</a:t>
            </a:r>
            <a:endParaRPr lang="en-US" sz="1200" dirty="0"/>
          </a:p>
          <a:p>
            <a:pPr marL="177800" indent="-177800">
              <a:lnSpc>
                <a:spcPct val="118000"/>
              </a:lnSpc>
              <a:spcAft>
                <a:spcPts val="600"/>
              </a:spcAft>
              <a:buSzPct val="100000"/>
              <a:buChar char="–"/>
            </a:pPr>
            <a:r>
              <a:rPr lang="en-US" sz="120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Plastique au rendu « façon verre », plus épais et plus travaillé</a:t>
            </a:r>
            <a:endParaRPr lang="en-US" sz="1200" dirty="0"/>
          </a:p>
          <a:p>
            <a:pPr marL="177800" indent="-177800">
              <a:lnSpc>
                <a:spcPct val="118000"/>
              </a:lnSpc>
              <a:spcAft>
                <a:spcPts val="600"/>
              </a:spcAft>
              <a:buSzPct val="100000"/>
              <a:buChar char="–"/>
            </a:pPr>
            <a:r>
              <a:rPr lang="en-US" sz="120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Seuls le bouchon et l'étiquette changent de couleur selon le parfum</a:t>
            </a:r>
            <a:endParaRPr lang="en-US" sz="1200" dirty="0"/>
          </a:p>
          <a:p>
            <a:pPr marL="177800" indent="-177800">
              <a:lnSpc>
                <a:spcPct val="118000"/>
              </a:lnSpc>
              <a:spcAft>
                <a:spcPts val="600"/>
              </a:spcAft>
              <a:buSzPct val="100000"/>
              <a:buChar char="–"/>
            </a:pPr>
            <a:r>
              <a:rPr lang="en-US" sz="120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goût se repère sans avoir à lire l'étiquette</a:t>
            </a:r>
            <a:endParaRPr lang="en-US" sz="1200" dirty="0"/>
          </a:p>
          <a:p>
            <a:pPr marL="177800" indent="-177800">
              <a:lnSpc>
                <a:spcPct val="118000"/>
              </a:lnSpc>
              <a:spcAft>
                <a:spcPts val="600"/>
              </a:spcAft>
              <a:buSzPct val="100000"/>
              <a:buChar char="–"/>
            </a:pPr>
            <a:r>
              <a:rPr lang="en-US" sz="120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Reconnaissance immédiate de la bouteille evian en rayon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309360" y="4343400"/>
            <a:ext cx="5394960" cy="594360"/>
          </a:xfrm>
          <a:prstGeom prst="rect">
            <a:avLst/>
          </a:prstGeom>
          <a:solidFill>
            <a:srgbClr val="EAE2D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537960" y="434340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Cohérence avec l'image premium de la marque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11368735" y="6473952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97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2920" y="6510528"/>
            <a:ext cx="10728655" cy="0"/>
          </a:xfrm>
          <a:prstGeom prst="line">
            <a:avLst/>
          </a:prstGeom>
          <a:noFill/>
          <a:ln w="9525">
            <a:solidFill>
              <a:srgbClr val="DCD4C2"/>
            </a:solidFill>
            <a:prstDash val="solid"/>
          </a:ln>
        </p:spPr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1618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Produit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722815" y="29260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9C97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IUT LE CREUSOT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46304" cy="146304"/>
          </a:xfrm>
          <a:prstGeom prst="rect">
            <a:avLst/>
          </a:prstGeom>
          <a:solidFill>
            <a:srgbClr val="C6543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04672" y="1664208"/>
            <a:ext cx="5138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30" kern="0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de vie du produit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075688"/>
            <a:ext cx="5394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8000"/>
              </a:lnSpc>
              <a:spcAft>
                <a:spcPts val="600"/>
              </a:spcAft>
              <a:buSzPct val="100000"/>
              <a:buChar char="–"/>
            </a:pPr>
            <a:r>
              <a:rPr lang="en-US" sz="125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de lancement : on reste prudents</a:t>
            </a:r>
            <a:endParaRPr lang="en-US" sz="1250" dirty="0"/>
          </a:p>
          <a:p>
            <a:pPr marL="177800" indent="-177800">
              <a:lnSpc>
                <a:spcPct val="118000"/>
              </a:lnSpc>
              <a:spcAft>
                <a:spcPts val="600"/>
              </a:spcAft>
              <a:buSzPct val="100000"/>
              <a:buChar char="–"/>
            </a:pPr>
            <a:r>
              <a:rPr lang="en-US" sz="125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Croissance faible au départ, coûts de développement élevés</a:t>
            </a:r>
            <a:endParaRPr lang="en-US" sz="1250" dirty="0"/>
          </a:p>
          <a:p>
            <a:pPr marL="177800" indent="-177800">
              <a:lnSpc>
                <a:spcPct val="118000"/>
              </a:lnSpc>
              <a:spcAft>
                <a:spcPts val="600"/>
              </a:spcAft>
              <a:buSzPct val="100000"/>
              <a:buChar char="–"/>
            </a:pPr>
            <a:r>
              <a:rPr lang="en-US" sz="125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Gamme volontairement étroite : 4 parfums</a:t>
            </a:r>
            <a:endParaRPr lang="en-US" sz="1250" dirty="0"/>
          </a:p>
          <a:p>
            <a:pPr marL="177800" indent="-177800">
              <a:lnSpc>
                <a:spcPct val="118000"/>
              </a:lnSpc>
              <a:spcAft>
                <a:spcPts val="600"/>
              </a:spcAft>
              <a:buSzPct val="100000"/>
              <a:buChar char="–"/>
            </a:pPr>
            <a:r>
              <a:rPr lang="en-US" sz="125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ciblée sur les 18-30 ans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3749040"/>
            <a:ext cx="146304" cy="146304"/>
          </a:xfrm>
          <a:prstGeom prst="rect">
            <a:avLst/>
          </a:prstGeom>
          <a:solidFill>
            <a:srgbClr val="C6543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04672" y="3675888"/>
            <a:ext cx="5138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30" kern="0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extension de gamme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087368"/>
            <a:ext cx="5394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8000"/>
              </a:lnSpc>
              <a:spcAft>
                <a:spcPts val="600"/>
              </a:spcAft>
              <a:buSzPct val="100000"/>
              <a:buChar char="–"/>
            </a:pPr>
            <a:r>
              <a:rPr lang="en-US" sz="125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ligne aromatisée s'ajoute aux eaux plates classiques</a:t>
            </a:r>
            <a:endParaRPr lang="en-US" sz="1250" dirty="0"/>
          </a:p>
          <a:p>
            <a:pPr marL="177800" indent="-177800">
              <a:lnSpc>
                <a:spcPct val="118000"/>
              </a:lnSpc>
              <a:spcAft>
                <a:spcPts val="600"/>
              </a:spcAft>
              <a:buSzPct val="100000"/>
              <a:buChar char="–"/>
            </a:pPr>
            <a:r>
              <a:rPr lang="en-US" sz="125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eaux plates restent les produits leaders de la marque</a:t>
            </a:r>
            <a:endParaRPr lang="en-US" sz="1250" dirty="0"/>
          </a:p>
          <a:p>
            <a:pPr marL="177800" indent="-177800">
              <a:lnSpc>
                <a:spcPct val="118000"/>
              </a:lnSpc>
              <a:spcAft>
                <a:spcPts val="600"/>
              </a:spcAft>
              <a:buSzPct val="100000"/>
              <a:buChar char="–"/>
            </a:pPr>
            <a:r>
              <a:rPr lang="en-US" sz="125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Élargissement de la largeur de gamme, pas un remplacement</a:t>
            </a:r>
            <a:endParaRPr lang="en-US" sz="1250" dirty="0"/>
          </a:p>
          <a:p>
            <a:pPr marL="177800" indent="-177800">
              <a:lnSpc>
                <a:spcPct val="118000"/>
              </a:lnSpc>
              <a:spcAft>
                <a:spcPts val="600"/>
              </a:spcAft>
              <a:buSzPct val="100000"/>
              <a:buChar char="–"/>
            </a:pPr>
            <a:r>
              <a:rPr lang="en-US" sz="125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nouvelle occasion de consommation pour evian</a:t>
            </a:r>
            <a:endParaRPr lang="en-US" sz="1250" dirty="0"/>
          </a:p>
          <a:p>
            <a:pPr marL="177800" indent="-177800">
              <a:lnSpc>
                <a:spcPct val="118000"/>
              </a:lnSpc>
              <a:spcAft>
                <a:spcPts val="600"/>
              </a:spcAft>
              <a:buSzPct val="100000"/>
              <a:buChar char="–"/>
            </a:pPr>
            <a:r>
              <a:rPr lang="en-US" sz="125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nouvelle marque à construire de zéro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309360" y="1737360"/>
            <a:ext cx="146304" cy="146304"/>
          </a:xfrm>
          <a:prstGeom prst="rect">
            <a:avLst/>
          </a:prstGeom>
          <a:solidFill>
            <a:srgbClr val="C6543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65392" y="1664208"/>
            <a:ext cx="5138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30" kern="0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nom et la marque caution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6309360" y="2075688"/>
            <a:ext cx="5394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8000"/>
              </a:lnSpc>
              <a:spcAft>
                <a:spcPts val="600"/>
              </a:spcAft>
              <a:buSzPct val="100000"/>
              <a:buChar char="–"/>
            </a:pPr>
            <a:r>
              <a:rPr lang="en-US" sz="125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ne crée pas une nouvelle marque : evian reste dominant</a:t>
            </a:r>
            <a:endParaRPr lang="en-US" sz="1250" dirty="0"/>
          </a:p>
          <a:p>
            <a:pPr marL="177800" indent="-177800">
              <a:lnSpc>
                <a:spcPct val="118000"/>
              </a:lnSpc>
              <a:spcAft>
                <a:spcPts val="600"/>
              </a:spcAft>
              <a:buSzPct val="100000"/>
              <a:buChar char="–"/>
            </a:pPr>
            <a:r>
              <a:rPr lang="en-US" sz="125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parfum vient juste en dessous, en plus petit</a:t>
            </a:r>
            <a:endParaRPr lang="en-US" sz="1250" dirty="0"/>
          </a:p>
          <a:p>
            <a:pPr marL="177800" indent="-177800">
              <a:lnSpc>
                <a:spcPct val="118000"/>
              </a:lnSpc>
              <a:spcAft>
                <a:spcPts val="600"/>
              </a:spcAft>
              <a:buSzPct val="100000"/>
              <a:buChar char="–"/>
            </a:pPr>
            <a:r>
              <a:rPr lang="en-US" sz="125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Même logique que KitKat by Nestlé</a:t>
            </a:r>
            <a:endParaRPr lang="en-US" sz="1250" dirty="0"/>
          </a:p>
          <a:p>
            <a:pPr marL="177800" indent="-177800">
              <a:lnSpc>
                <a:spcPct val="118000"/>
              </a:lnSpc>
              <a:spcAft>
                <a:spcPts val="600"/>
              </a:spcAft>
              <a:buSzPct val="100000"/>
              <a:buChar char="–"/>
            </a:pPr>
            <a:r>
              <a:rPr lang="en-US" sz="125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Profiter de la confiance déjà acquise plutôt que repartir de zéro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11368735" y="6473952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97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" y="6510528"/>
            <a:ext cx="10728655" cy="0"/>
          </a:xfrm>
          <a:prstGeom prst="line">
            <a:avLst/>
          </a:prstGeom>
          <a:noFill/>
          <a:ln w="9525">
            <a:solidFill>
              <a:srgbClr val="DCD4C2"/>
            </a:solidFill>
            <a:prstDash val="solid"/>
          </a:ln>
        </p:spPr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1618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Prix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722815" y="29260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9C97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IUT LE CREUSOT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46304" cy="146304"/>
          </a:xfrm>
          <a:prstGeom prst="rect">
            <a:avLst/>
          </a:prstGeom>
          <a:solidFill>
            <a:srgbClr val="C6543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04672" y="1664208"/>
            <a:ext cx="5138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30" kern="0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Stratégie tarifaire retenue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075688"/>
            <a:ext cx="5394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8000"/>
              </a:lnSpc>
              <a:spcAft>
                <a:spcPts val="600"/>
              </a:spcAft>
              <a:buSzPct val="100000"/>
              <a:buChar char="–"/>
            </a:pPr>
            <a:r>
              <a:rPr lang="en-US" sz="130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stratégie d'écrémage : prix volontairement élevé</a:t>
            </a:r>
            <a:endParaRPr lang="en-US" sz="1300" dirty="0"/>
          </a:p>
          <a:p>
            <a:pPr marL="177800" indent="-177800">
              <a:lnSpc>
                <a:spcPct val="118000"/>
              </a:lnSpc>
              <a:spcAft>
                <a:spcPts val="600"/>
              </a:spcAft>
              <a:buSzPct val="100000"/>
              <a:buChar char="–"/>
            </a:pPr>
            <a:r>
              <a:rPr lang="en-US" sz="130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Entrée sur le marché avec de faibles volumes</a:t>
            </a:r>
            <a:endParaRPr lang="en-US" sz="1300" dirty="0"/>
          </a:p>
          <a:p>
            <a:pPr marL="177800" indent="-177800">
              <a:lnSpc>
                <a:spcPct val="118000"/>
              </a:lnSpc>
              <a:spcAft>
                <a:spcPts val="600"/>
              </a:spcAft>
              <a:buSzPct val="100000"/>
              <a:buChar char="–"/>
            </a:pPr>
            <a:r>
              <a:rPr lang="en-US" sz="130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Cohérente avec le positionnement premium d'evian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520440"/>
            <a:ext cx="146304" cy="146304"/>
          </a:xfrm>
          <a:prstGeom prst="rect">
            <a:avLst/>
          </a:prstGeom>
          <a:solidFill>
            <a:srgbClr val="C6543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04672" y="3447288"/>
            <a:ext cx="5138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30" kern="0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un prix aussi élevé ?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858768"/>
            <a:ext cx="53949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8000"/>
              </a:lnSpc>
              <a:spcAft>
                <a:spcPts val="600"/>
              </a:spcAft>
              <a:buSzPct val="100000"/>
              <a:buChar char="–"/>
            </a:pPr>
            <a:r>
              <a:rPr lang="en-US" sz="130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prix élevé renforce l'image premium du produit</a:t>
            </a:r>
            <a:endParaRPr lang="en-US" sz="1300" dirty="0"/>
          </a:p>
          <a:p>
            <a:pPr marL="177800" indent="-177800">
              <a:lnSpc>
                <a:spcPct val="118000"/>
              </a:lnSpc>
              <a:spcAft>
                <a:spcPts val="600"/>
              </a:spcAft>
              <a:buSzPct val="100000"/>
              <a:buChar char="–"/>
            </a:pPr>
            <a:r>
              <a:rPr lang="en-US" sz="130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crédibilise la qualité perçue auprès du consommateur</a:t>
            </a:r>
            <a:endParaRPr lang="en-US" sz="1300" dirty="0"/>
          </a:p>
          <a:p>
            <a:pPr marL="177800" indent="-177800">
              <a:lnSpc>
                <a:spcPct val="118000"/>
              </a:lnSpc>
              <a:spcAft>
                <a:spcPts val="600"/>
              </a:spcAft>
              <a:buSzPct val="100000"/>
              <a:buChar char="–"/>
            </a:pPr>
            <a:r>
              <a:rPr lang="en-US" sz="130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donne plus de marge aux distributeurs, donc plus de mise en avant</a:t>
            </a:r>
            <a:endParaRPr lang="en-US" sz="1300" dirty="0"/>
          </a:p>
          <a:p>
            <a:pPr marL="177800" indent="-177800">
              <a:lnSpc>
                <a:spcPct val="118000"/>
              </a:lnSpc>
              <a:spcAft>
                <a:spcPts val="600"/>
              </a:spcAft>
              <a:buSzPct val="100000"/>
              <a:buChar char="–"/>
            </a:pPr>
            <a:r>
              <a:rPr lang="en-US" sz="130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évite la comparaison directe avec les MDD et le hard discount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09360" y="1691640"/>
            <a:ext cx="5394960" cy="1965960"/>
          </a:xfrm>
          <a:prstGeom prst="rect">
            <a:avLst/>
          </a:prstGeom>
          <a:solidFill>
            <a:srgbClr val="16181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83680" y="182880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65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1,60 €</a:t>
            </a:r>
            <a:endParaRPr lang="en-US" sz="4400" dirty="0"/>
          </a:p>
        </p:txBody>
      </p:sp>
      <p:sp>
        <p:nvSpPr>
          <p:cNvPr id="12" name="Text 10"/>
          <p:cNvSpPr txBox="1"/>
          <p:nvPr/>
        </p:nvSpPr>
        <p:spPr>
          <a:xfrm>
            <a:off x="6583680" y="26060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C5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Bouteille de 33 cl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6583680" y="301752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–"/>
            </a:pPr>
            <a:r>
              <a:rPr lang="en-US" sz="1100" dirty="0">
                <a:solidFill>
                  <a:srgbClr val="E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prix haut de gamme assumé</a:t>
            </a:r>
            <a:endParaRPr lang="en-US" sz="1100" dirty="0"/>
          </a:p>
          <a:p>
            <a:pPr marL="342900" indent="-342900">
              <a:lnSpc>
                <a:spcPct val="115000"/>
              </a:lnSpc>
              <a:buSzPct val="100000"/>
              <a:buChar char="–"/>
            </a:pPr>
            <a:r>
              <a:rPr lang="en-US" sz="1100" dirty="0">
                <a:solidFill>
                  <a:srgbClr val="E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Positionné juste en dessous de San Pellegrino</a:t>
            </a:r>
            <a:endParaRPr lang="en-US" sz="1100" dirty="0"/>
          </a:p>
          <a:p>
            <a:pPr marL="342900" indent="-342900">
              <a:lnSpc>
                <a:spcPct val="115000"/>
              </a:lnSpc>
              <a:buSzPct val="100000"/>
              <a:buChar char="–"/>
            </a:pPr>
            <a:r>
              <a:rPr lang="en-US" sz="1100" dirty="0">
                <a:solidFill>
                  <a:srgbClr val="E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 Pellegrino est la marque la plus chère du segment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1368735" y="6473952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97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920" y="6510528"/>
            <a:ext cx="10728655" cy="0"/>
          </a:xfrm>
          <a:prstGeom prst="line">
            <a:avLst/>
          </a:prstGeom>
          <a:noFill/>
          <a:ln w="9525">
            <a:solidFill>
              <a:srgbClr val="DCD4C2"/>
            </a:solidFill>
            <a:prstDash val="solid"/>
          </a:ln>
        </p:spPr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1618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Prix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722815" y="29260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9C97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IUT LE CREUSOT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46304" cy="146304"/>
          </a:xfrm>
          <a:prstGeom prst="rect">
            <a:avLst/>
          </a:prstGeom>
          <a:solidFill>
            <a:srgbClr val="C6543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04672" y="1664208"/>
            <a:ext cx="5138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30" kern="0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positionnement concurrentiel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075688"/>
            <a:ext cx="53949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8000"/>
              </a:lnSpc>
              <a:spcAft>
                <a:spcPts val="600"/>
              </a:spcAft>
              <a:buSzPct val="100000"/>
              <a:buChar char="–"/>
            </a:pPr>
            <a:r>
              <a:rPr lang="en-US" sz="115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Comparaison réalisée avec les principales marques du segment</a:t>
            </a:r>
            <a:endParaRPr lang="en-US" sz="1150" dirty="0"/>
          </a:p>
          <a:p>
            <a:pPr marL="177800" indent="-177800">
              <a:lnSpc>
                <a:spcPct val="118000"/>
              </a:lnSpc>
              <a:spcAft>
                <a:spcPts val="600"/>
              </a:spcAft>
              <a:buSzPct val="100000"/>
              <a:buChar char="–"/>
            </a:pPr>
            <a:r>
              <a:rPr lang="en-US" sz="115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 Pellegrino : la marque la plus chère des eaux aromatisées</a:t>
            </a:r>
            <a:endParaRPr lang="en-US" sz="1150" dirty="0"/>
          </a:p>
          <a:p>
            <a:pPr marL="177800" indent="-177800">
              <a:lnSpc>
                <a:spcPct val="118000"/>
              </a:lnSpc>
              <a:spcAft>
                <a:spcPts val="600"/>
              </a:spcAft>
              <a:buSzPct val="100000"/>
              <a:buChar char="–"/>
            </a:pPr>
            <a:r>
              <a:rPr lang="en-US" sz="115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evian FRESH se place juste en dessous, à 1,60 € les 33 cl</a:t>
            </a:r>
            <a:endParaRPr lang="en-US" sz="1150" dirty="0"/>
          </a:p>
          <a:p>
            <a:pPr marL="177800" indent="-177800">
              <a:lnSpc>
                <a:spcPct val="118000"/>
              </a:lnSpc>
              <a:spcAft>
                <a:spcPts val="600"/>
              </a:spcAft>
              <a:buSzPct val="100000"/>
              <a:buChar char="–"/>
            </a:pPr>
            <a:r>
              <a:rPr lang="en-US" sz="115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cela permet : rester crédible sans être hors marché</a:t>
            </a:r>
            <a:endParaRPr lang="en-US" sz="1150" dirty="0"/>
          </a:p>
          <a:p>
            <a:pPr marL="177800" indent="-177800">
              <a:lnSpc>
                <a:spcPct val="118000"/>
              </a:lnSpc>
              <a:spcAft>
                <a:spcPts val="600"/>
              </a:spcAft>
              <a:buSzPct val="100000"/>
              <a:buChar char="–"/>
            </a:pPr>
            <a:r>
              <a:rPr lang="en-US" sz="115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Affirmer le caractère premium du produit</a:t>
            </a:r>
            <a:endParaRPr lang="en-US" sz="1150" dirty="0"/>
          </a:p>
          <a:p>
            <a:pPr marL="177800" indent="-177800">
              <a:lnSpc>
                <a:spcPct val="118000"/>
              </a:lnSpc>
              <a:spcAft>
                <a:spcPts val="600"/>
              </a:spcAft>
              <a:buSzPct val="100000"/>
              <a:buChar char="–"/>
            </a:pPr>
            <a:r>
              <a:rPr lang="en-US" sz="115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Éviter la comparaison directe avec les MDD et le hard discount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4617720"/>
            <a:ext cx="146304" cy="146304"/>
          </a:xfrm>
          <a:prstGeom prst="rect">
            <a:avLst/>
          </a:prstGeom>
          <a:solidFill>
            <a:srgbClr val="C6543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04672" y="4544568"/>
            <a:ext cx="5138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30" kern="0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limite à surveiller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956048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8000"/>
              </a:lnSpc>
              <a:spcAft>
                <a:spcPts val="600"/>
              </a:spcAft>
              <a:buSzPct val="100000"/>
              <a:buChar char="–"/>
            </a:pPr>
            <a:r>
              <a:rPr lang="en-US" sz="115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prix est le 1er critère d'achat sur le marché de l'eau</a:t>
            </a:r>
            <a:endParaRPr lang="en-US" sz="1150" dirty="0"/>
          </a:p>
          <a:p>
            <a:pPr marL="177800" indent="-177800">
              <a:lnSpc>
                <a:spcPct val="118000"/>
              </a:lnSpc>
              <a:spcAft>
                <a:spcPts val="600"/>
              </a:spcAft>
              <a:buSzPct val="100000"/>
              <a:buChar char="–"/>
            </a:pPr>
            <a:r>
              <a:rPr lang="en-US" sz="115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38 % aimeraient en boire plus mais n'en ont pas les moyens</a:t>
            </a:r>
            <a:endParaRPr lang="en-US" sz="1150" dirty="0"/>
          </a:p>
          <a:p>
            <a:pPr marL="177800" indent="-177800">
              <a:lnSpc>
                <a:spcPct val="118000"/>
              </a:lnSpc>
              <a:spcAft>
                <a:spcPts val="600"/>
              </a:spcAft>
              <a:buSzPct val="100000"/>
              <a:buChar char="–"/>
            </a:pPr>
            <a:r>
              <a:rPr lang="en-US" sz="115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D'où un lancement ciblé, pas une diffusion de masse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309360" y="1737360"/>
            <a:ext cx="146304" cy="146304"/>
          </a:xfrm>
          <a:prstGeom prst="rect">
            <a:avLst/>
          </a:prstGeom>
          <a:solidFill>
            <a:srgbClr val="C6543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65392" y="1664208"/>
            <a:ext cx="5138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30" kern="0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cohérence du mix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6309360" y="2075688"/>
            <a:ext cx="5394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8000"/>
              </a:lnSpc>
              <a:spcAft>
                <a:spcPts val="600"/>
              </a:spcAft>
              <a:buSzPct val="100000"/>
              <a:buChar char="–"/>
            </a:pPr>
            <a:r>
              <a:rPr lang="en-US" sz="130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Prix premium + packaging premium + distribution sélective</a:t>
            </a:r>
            <a:endParaRPr lang="en-US" sz="1300" dirty="0"/>
          </a:p>
          <a:p>
            <a:pPr marL="177800" indent="-177800">
              <a:lnSpc>
                <a:spcPct val="118000"/>
              </a:lnSpc>
              <a:spcAft>
                <a:spcPts val="600"/>
              </a:spcAft>
              <a:buSzPct val="100000"/>
              <a:buChar char="–"/>
            </a:pPr>
            <a:r>
              <a:rPr lang="en-US" sz="130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trois éléments se renforcent mutuellement</a:t>
            </a:r>
            <a:endParaRPr lang="en-US" sz="1300" dirty="0"/>
          </a:p>
          <a:p>
            <a:pPr marL="177800" indent="-177800">
              <a:lnSpc>
                <a:spcPct val="118000"/>
              </a:lnSpc>
              <a:spcAft>
                <a:spcPts val="600"/>
              </a:spcAft>
              <a:buSzPct val="100000"/>
              <a:buChar char="–"/>
            </a:pPr>
            <a:r>
              <a:rPr lang="en-US" sz="130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prix bas aurait décrédibilisé tout le positionnement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1368735" y="6473952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97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" y="6510528"/>
            <a:ext cx="10728655" cy="0"/>
          </a:xfrm>
          <a:prstGeom prst="line">
            <a:avLst/>
          </a:prstGeom>
          <a:noFill/>
          <a:ln w="9525">
            <a:solidFill>
              <a:srgbClr val="DCD4C2"/>
            </a:solidFill>
            <a:prstDash val="solid"/>
          </a:ln>
        </p:spPr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1618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Distribution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722815" y="29260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9C97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IUT LE CREUSOT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46304" cy="146304"/>
          </a:xfrm>
          <a:prstGeom prst="rect">
            <a:avLst/>
          </a:prstGeom>
          <a:solidFill>
            <a:srgbClr val="C6543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04672" y="1664208"/>
            <a:ext cx="5138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30" kern="0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distribution sélective au lancement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075688"/>
            <a:ext cx="5394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8000"/>
              </a:lnSpc>
              <a:spcAft>
                <a:spcPts val="600"/>
              </a:spcAft>
              <a:buSzPct val="100000"/>
              <a:buChar char="–"/>
            </a:pPr>
            <a:r>
              <a:rPr lang="en-US" sz="125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ne se lance pas partout d'un coup</a:t>
            </a:r>
            <a:endParaRPr lang="en-US" sz="1250" dirty="0"/>
          </a:p>
          <a:p>
            <a:pPr marL="177800" indent="-177800">
              <a:lnSpc>
                <a:spcPct val="118000"/>
              </a:lnSpc>
              <a:spcAft>
                <a:spcPts val="600"/>
              </a:spcAft>
              <a:buSzPct val="100000"/>
              <a:buChar char="–"/>
            </a:pPr>
            <a:r>
              <a:rPr lang="en-US" sz="125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Stratégie inspirée du secteur du luxe</a:t>
            </a:r>
            <a:endParaRPr lang="en-US" sz="1250" dirty="0"/>
          </a:p>
          <a:p>
            <a:pPr marL="177800" indent="-177800">
              <a:lnSpc>
                <a:spcPct val="118000"/>
              </a:lnSpc>
              <a:spcAft>
                <a:spcPts val="600"/>
              </a:spcAft>
              <a:buSzPct val="100000"/>
              <a:buChar char="–"/>
            </a:pPr>
            <a:r>
              <a:rPr lang="en-US" sz="125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Garder le contrôle sur l'image du produit dès le lancement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3474720"/>
            <a:ext cx="146304" cy="146304"/>
          </a:xfrm>
          <a:prstGeom prst="rect">
            <a:avLst/>
          </a:prstGeom>
          <a:solidFill>
            <a:srgbClr val="C6543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04672" y="3401568"/>
            <a:ext cx="5138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30" kern="0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canaux retenus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813048"/>
            <a:ext cx="5394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8000"/>
              </a:lnSpc>
              <a:spcAft>
                <a:spcPts val="600"/>
              </a:spcAft>
              <a:buSzPct val="100000"/>
              <a:buChar char="–"/>
            </a:pPr>
            <a:r>
              <a:rPr lang="en-US" sz="125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 haut de gamme : bars, restaurants, hôtels</a:t>
            </a:r>
            <a:endParaRPr lang="en-US" sz="1250" dirty="0"/>
          </a:p>
          <a:p>
            <a:pPr marL="177800" indent="-177800">
              <a:lnSpc>
                <a:spcPct val="118000"/>
              </a:lnSpc>
              <a:spcAft>
                <a:spcPts val="600"/>
              </a:spcAft>
              <a:buSzPct val="100000"/>
              <a:buChar char="–"/>
            </a:pPr>
            <a:r>
              <a:rPr lang="en-US" sz="125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Corners bio et épiceries fines</a:t>
            </a:r>
            <a:endParaRPr lang="en-US" sz="1250" dirty="0"/>
          </a:p>
          <a:p>
            <a:pPr marL="177800" indent="-177800">
              <a:lnSpc>
                <a:spcPct val="118000"/>
              </a:lnSpc>
              <a:spcAft>
                <a:spcPts val="600"/>
              </a:spcAft>
              <a:buSzPct val="100000"/>
              <a:buChar char="–"/>
            </a:pPr>
            <a:r>
              <a:rPr lang="en-US" sz="125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Vente en ligne sur le site et l'application</a:t>
            </a:r>
            <a:endParaRPr lang="en-US" sz="1250" dirty="0"/>
          </a:p>
          <a:p>
            <a:pPr marL="177800" indent="-177800">
              <a:lnSpc>
                <a:spcPct val="118000"/>
              </a:lnSpc>
              <a:spcAft>
                <a:spcPts val="600"/>
              </a:spcAft>
              <a:buSzPct val="100000"/>
              <a:buChar char="–"/>
            </a:pPr>
            <a:r>
              <a:rPr lang="en-US" sz="125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Maîtrise de l'expérience client, de la découverte à l'achat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309360" y="1737360"/>
            <a:ext cx="146304" cy="146304"/>
          </a:xfrm>
          <a:prstGeom prst="rect">
            <a:avLst/>
          </a:prstGeom>
          <a:solidFill>
            <a:srgbClr val="C6543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65392" y="1664208"/>
            <a:ext cx="5138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30" kern="0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logique omnicanale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6309360" y="2075688"/>
            <a:ext cx="5394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8000"/>
              </a:lnSpc>
              <a:spcAft>
                <a:spcPts val="600"/>
              </a:spcAft>
              <a:buSzPct val="100000"/>
              <a:buChar char="–"/>
            </a:pPr>
            <a:r>
              <a:rPr lang="en-US" sz="125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Même expérience en magasin, sur le site et sur l'application</a:t>
            </a:r>
            <a:endParaRPr lang="en-US" sz="1250" dirty="0"/>
          </a:p>
          <a:p>
            <a:pPr marL="177800" indent="-177800">
              <a:lnSpc>
                <a:spcPct val="118000"/>
              </a:lnSpc>
              <a:spcAft>
                <a:spcPts val="600"/>
              </a:spcAft>
              <a:buSzPct val="100000"/>
              <a:buChar char="–"/>
            </a:pPr>
            <a:r>
              <a:rPr lang="en-US" sz="125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Cohérence du discours et du prix sur tous les canaux</a:t>
            </a:r>
            <a:endParaRPr lang="en-US" sz="1250" dirty="0"/>
          </a:p>
          <a:p>
            <a:pPr marL="177800" indent="-177800">
              <a:lnSpc>
                <a:spcPct val="118000"/>
              </a:lnSpc>
              <a:spcAft>
                <a:spcPts val="600"/>
              </a:spcAft>
              <a:buSzPct val="100000"/>
              <a:buChar char="–"/>
            </a:pPr>
            <a:r>
              <a:rPr lang="en-US" sz="125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Lien direct avec les consommateurs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309360" y="3794760"/>
            <a:ext cx="146304" cy="146304"/>
          </a:xfrm>
          <a:prstGeom prst="rect">
            <a:avLst/>
          </a:prstGeom>
          <a:solidFill>
            <a:srgbClr val="C6543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565392" y="3721608"/>
            <a:ext cx="5138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30" kern="0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L'élargissement prévu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6309360" y="4133088"/>
            <a:ext cx="5394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8000"/>
              </a:lnSpc>
              <a:spcAft>
                <a:spcPts val="600"/>
              </a:spcAft>
              <a:buSzPct val="100000"/>
              <a:buChar char="–"/>
            </a:pPr>
            <a:r>
              <a:rPr lang="en-US" sz="125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fois le produit installé, ouverture vers la grande distribution</a:t>
            </a:r>
            <a:endParaRPr lang="en-US" sz="1250" dirty="0"/>
          </a:p>
          <a:p>
            <a:pPr marL="177800" indent="-177800">
              <a:lnSpc>
                <a:spcPct val="118000"/>
              </a:lnSpc>
              <a:spcAft>
                <a:spcPts val="600"/>
              </a:spcAft>
              <a:buSzPct val="100000"/>
              <a:buChar char="–"/>
            </a:pPr>
            <a:r>
              <a:rPr lang="en-US" sz="125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toujours dans le rayon des eaux premium</a:t>
            </a:r>
            <a:endParaRPr lang="en-US" sz="1250" dirty="0"/>
          </a:p>
          <a:p>
            <a:pPr marL="177800" indent="-177800">
              <a:lnSpc>
                <a:spcPct val="118000"/>
              </a:lnSpc>
              <a:spcAft>
                <a:spcPts val="600"/>
              </a:spcAft>
              <a:buSzPct val="100000"/>
              <a:buChar char="–"/>
            </a:pPr>
            <a:r>
              <a:rPr lang="en-US" sz="125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Jamais au milieu des sodas</a:t>
            </a:r>
            <a:endParaRPr lang="en-US" sz="1250" dirty="0"/>
          </a:p>
          <a:p>
            <a:pPr marL="177800" indent="-177800">
              <a:lnSpc>
                <a:spcPct val="118000"/>
              </a:lnSpc>
              <a:spcAft>
                <a:spcPts val="600"/>
              </a:spcAft>
              <a:buSzPct val="100000"/>
              <a:buChar char="–"/>
            </a:pPr>
            <a:r>
              <a:rPr lang="en-US" sz="125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discount et promotions agressives écartés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11368735" y="6473952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97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2920" y="6510528"/>
            <a:ext cx="10728655" cy="0"/>
          </a:xfrm>
          <a:prstGeom prst="line">
            <a:avLst/>
          </a:prstGeom>
          <a:noFill/>
          <a:ln w="9525">
            <a:solidFill>
              <a:srgbClr val="DCD4C2"/>
            </a:solidFill>
            <a:prstDash val="solid"/>
          </a:ln>
        </p:spPr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6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722815" y="29260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8A8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IUT LE CREUSOT</a:t>
            </a:r>
            <a:endParaRPr lang="en-US" sz="900" dirty="0"/>
          </a:p>
        </p:txBody>
      </p:sp>
      <p:pic>
        <p:nvPicPr>
          <p:cNvPr id="3" name="Image 0" descr="/tmp/claude-0/-home-user/795a3683-a2d5-55e1-80ef-99492ab8aef4/scratchpad/deck/img/38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90353" y="0"/>
            <a:ext cx="3901342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290353" y="0"/>
            <a:ext cx="0" cy="6858000"/>
          </a:xfrm>
          <a:prstGeom prst="line">
            <a:avLst/>
          </a:prstGeom>
          <a:noFill/>
          <a:ln w="12700">
            <a:solidFill>
              <a:srgbClr val="16181C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50292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i="1" dirty="0">
                <a:solidFill>
                  <a:srgbClr val="F6F1E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</a:t>
            </a:r>
            <a:pPr indent="0" marL="0">
              <a:buNone/>
            </a:pPr>
            <a:r>
              <a:rPr lang="en-US" sz="4400" b="1" i="1" dirty="0">
                <a:solidFill>
                  <a:srgbClr val="C65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sion</a:t>
            </a:r>
            <a:endParaRPr lang="en-US" sz="4400" dirty="0"/>
          </a:p>
        </p:txBody>
      </p:sp>
      <p:sp>
        <p:nvSpPr>
          <p:cNvPr id="6" name="Shape 3"/>
          <p:cNvSpPr/>
          <p:nvPr/>
        </p:nvSpPr>
        <p:spPr>
          <a:xfrm>
            <a:off x="548640" y="2011680"/>
            <a:ext cx="146304" cy="146304"/>
          </a:xfrm>
          <a:prstGeom prst="rect">
            <a:avLst/>
          </a:prstGeom>
          <a:solidFill>
            <a:srgbClr val="C6543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04672" y="1938528"/>
            <a:ext cx="7242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" kern="0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qu'il faut retenir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350008"/>
            <a:ext cx="74980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8000"/>
              </a:lnSpc>
              <a:spcAft>
                <a:spcPts val="600"/>
              </a:spcAft>
              <a:buSzPct val="100000"/>
              <a:buChar char="–"/>
            </a:pPr>
            <a:r>
              <a:rPr lang="en-US" sz="1250" dirty="0">
                <a:solidFill>
                  <a:srgbClr val="D7D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marché de l'eau très concentré, mais un segment aromatisé en croissance (+ 6 % en 2024)</a:t>
            </a:r>
            <a:endParaRPr lang="en-US" sz="1250" dirty="0"/>
          </a:p>
          <a:p>
            <a:pPr marL="177800" indent="-177800">
              <a:lnSpc>
                <a:spcPct val="118000"/>
              </a:lnSpc>
              <a:spcAft>
                <a:spcPts val="600"/>
              </a:spcAft>
              <a:buSzPct val="100000"/>
              <a:buChar char="–"/>
            </a:pPr>
            <a:r>
              <a:rPr lang="en-US" sz="1250" dirty="0">
                <a:solidFill>
                  <a:srgbClr val="D7D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cible jeune qui cherche du goût sans le sucre des sodas</a:t>
            </a:r>
            <a:endParaRPr lang="en-US" sz="1250" dirty="0"/>
          </a:p>
          <a:p>
            <a:pPr marL="177800" indent="-177800">
              <a:lnSpc>
                <a:spcPct val="118000"/>
              </a:lnSpc>
              <a:spcAft>
                <a:spcPts val="600"/>
              </a:spcAft>
              <a:buSzPct val="100000"/>
              <a:buChar char="–"/>
            </a:pPr>
            <a:r>
              <a:rPr lang="en-US" sz="1250" dirty="0">
                <a:solidFill>
                  <a:srgbClr val="D7D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evian FRESH : 4 parfums, arômes naturels, sans sucres ajoutés</a:t>
            </a:r>
            <a:endParaRPr lang="en-US" sz="1250" dirty="0"/>
          </a:p>
          <a:p>
            <a:pPr marL="177800" indent="-177800">
              <a:lnSpc>
                <a:spcPct val="118000"/>
              </a:lnSpc>
              <a:spcAft>
                <a:spcPts val="600"/>
              </a:spcAft>
              <a:buSzPct val="100000"/>
              <a:buChar char="–"/>
            </a:pPr>
            <a:r>
              <a:rPr lang="en-US" sz="1250" dirty="0">
                <a:solidFill>
                  <a:srgbClr val="D7D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prix d'écrémage à 1,60 € les 33 cl, juste sous San Pellegrino</a:t>
            </a:r>
            <a:endParaRPr lang="en-US" sz="1250" dirty="0"/>
          </a:p>
          <a:p>
            <a:pPr marL="177800" indent="-177800">
              <a:lnSpc>
                <a:spcPct val="118000"/>
              </a:lnSpc>
              <a:spcAft>
                <a:spcPts val="600"/>
              </a:spcAft>
              <a:buSzPct val="100000"/>
              <a:buChar char="–"/>
            </a:pPr>
            <a:r>
              <a:rPr lang="en-US" sz="1250" dirty="0">
                <a:solidFill>
                  <a:srgbClr val="D7D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distribution sélective au lancement, puis un élargissement maîtrisé</a:t>
            </a:r>
            <a:endParaRPr lang="en-US" sz="1250" dirty="0"/>
          </a:p>
          <a:p>
            <a:pPr marL="177800" indent="-177800">
              <a:lnSpc>
                <a:spcPct val="118000"/>
              </a:lnSpc>
              <a:spcAft>
                <a:spcPts val="600"/>
              </a:spcAft>
              <a:buSzPct val="100000"/>
              <a:buChar char="–"/>
            </a:pPr>
            <a:r>
              <a:rPr lang="en-US" sz="1250" dirty="0">
                <a:solidFill>
                  <a:srgbClr val="D7D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extension de gamme cohérente : plus de goût, sans renier l'univers premium d'evian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4892040"/>
            <a:ext cx="2011680" cy="0"/>
          </a:xfrm>
          <a:prstGeom prst="line">
            <a:avLst/>
          </a:prstGeom>
          <a:noFill/>
          <a:ln w="19050">
            <a:solidFill>
              <a:srgbClr val="AD8A54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48640" y="507492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C65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 Le goût que vous choisissez, l'eau evian que vous connaissez. »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11368735" y="6473952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AE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02920" y="6510528"/>
            <a:ext cx="10728655" cy="0"/>
          </a:xfrm>
          <a:prstGeom prst="line">
            <a:avLst/>
          </a:prstGeom>
          <a:noFill/>
          <a:ln w="9525">
            <a:solidFill>
              <a:srgbClr val="2A2C30"/>
            </a:solidFill>
            <a:prstDash val="solid"/>
          </a:ln>
        </p:spPr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6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722815" y="29260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8A8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IUT LE CREUSOT</a:t>
            </a:r>
            <a:endParaRPr lang="en-US" sz="900" dirty="0"/>
          </a:p>
        </p:txBody>
      </p:sp>
      <p:pic>
        <p:nvPicPr>
          <p:cNvPr id="3" name="Image 0" descr="/tmp/claude-0/-home-user/795a3683-a2d5-55e1-80ef-99492ab8aef4/scratchpad/deck/img/3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1463040"/>
            <a:ext cx="4023360" cy="2624829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02920" y="2834640"/>
            <a:ext cx="6858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b="1" i="1" dirty="0">
                <a:solidFill>
                  <a:srgbClr val="F6F1E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Merci de</a:t>
            </a:r>
            <a:endParaRPr lang="en-US" sz="4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600" b="1" i="1" dirty="0">
                <a:solidFill>
                  <a:srgbClr val="C65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votre attention</a:t>
            </a:r>
            <a:endParaRPr lang="en-US" sz="4600" dirty="0"/>
          </a:p>
        </p:txBody>
      </p:sp>
      <p:sp>
        <p:nvSpPr>
          <p:cNvPr id="5" name="Shape 2"/>
          <p:cNvSpPr/>
          <p:nvPr/>
        </p:nvSpPr>
        <p:spPr>
          <a:xfrm>
            <a:off x="594360" y="4709160"/>
            <a:ext cx="2011680" cy="0"/>
          </a:xfrm>
          <a:prstGeom prst="line">
            <a:avLst/>
          </a:prstGeom>
          <a:noFill/>
          <a:ln w="19050">
            <a:solidFill>
              <a:srgbClr val="AD8A54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534924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9B4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Paul PEREIRA · Louca MATOS · Arthur CATHERIN · Ilan CHIABRI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11368735" y="6473952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AE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02920" y="6510528"/>
            <a:ext cx="10728655" cy="0"/>
          </a:xfrm>
          <a:prstGeom prst="line">
            <a:avLst/>
          </a:prstGeom>
          <a:noFill/>
          <a:ln w="9525">
            <a:solidFill>
              <a:srgbClr val="2A2C30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2026-09-20T11:50:42Z</dcterms:created>
  <dcterms:modified xsi:type="dcterms:W3CDTF">2026-09-20T11:50:42Z</dcterms:modified>
</cp:coreProperties>
</file>