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À METTRE (clic droit &gt; Changer l'image) : le squelette complet de Stan, de profil, fond noir (recherche : « Stan T-rex Christie's »)</a:t>
            </a:r>
          </a:p>
          <a:p/>
          <a:p>
            <a:r>
              <a:t>Slide 1 —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À METTRE (clic droit &gt; Changer l'image) : gros plan sur le crâne de Stan</a:t>
            </a:r>
          </a:p>
          <a:p/>
          <a:p>
            <a:r>
              <a:t>Slide 2 — FEATURE : âge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À METTRE (clic droit &gt; Changer l'image) : paysage des Badlands / Hell Creek, Dakota du Sud</a:t>
            </a:r>
          </a:p>
          <a:p/>
          <a:p>
            <a:r>
              <a:t>Slide 3 — FEATURE : origine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À METTRE (clic droit &gt; Changer l'image) : le squelette entier avec une personne à côté pour l'échelle</a:t>
            </a:r>
          </a:p>
          <a:p/>
          <a:p>
            <a:r>
              <a:t>Slide 4 — FEATURE : taille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À METTRE (clic droit &gt; Changer l'image) : photo de fouille / préparation des os en laboratoire</a:t>
            </a:r>
          </a:p>
          <a:p/>
          <a:p>
            <a:r>
              <a:t>Slide 5 — ADVANTAGE : authentique et complet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À METTRE (clic droit &gt; Changer l'image) : gros plan sur la mâchoire et les dents</a:t>
            </a:r>
          </a:p>
          <a:p/>
          <a:p>
            <a:r>
              <a:t>Slide 6 — ADVANTAGE : spectaculaire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À METTRE (clic droit &gt; Changer l'image) : grand hall de musée avec un squelette de dinosaure et des visiteurs</a:t>
            </a:r>
          </a:p>
          <a:p/>
          <a:p>
            <a:r>
              <a:t>Slide 7 — BENEFIT : prestige, visiteurs,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À METTRE (clic droit &gt; Changer l'image) : le squelette de Stan éclairé, ambiance salle de vente</a:t>
            </a:r>
          </a:p>
          <a:p/>
          <a:p>
            <a:r>
              <a:t>Slide 8 — Prix et 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0000" y="4200000"/>
            <a:ext cx="800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0" b="1">
                <a:solidFill>
                  <a:srgbClr val="F4EFE6"/>
                </a:solidFill>
                <a:latin typeface="Georgia"/>
              </a:rPr>
              <a:t>STAN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0000" y="5450000"/>
            <a:ext cx="1800000" cy="30000"/>
          </a:xfrm>
          <a:prstGeom prst="rect">
            <a:avLst/>
          </a:prstGeom>
          <a:solidFill>
            <a:srgbClr val="C9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5550000"/>
            <a:ext cx="80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C9A55C"/>
                </a:solidFill>
                <a:latin typeface="Georgia"/>
              </a:rPr>
              <a:t>T. rex  ·  Christie's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96000" y="1900000"/>
            <a:ext cx="4996000" cy="1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400" b="1">
                <a:solidFill>
                  <a:srgbClr val="F4EFE6"/>
                </a:solidFill>
                <a:latin typeface="Georgia"/>
              </a:rPr>
              <a:t>− 67 000 000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756000" y="3400000"/>
            <a:ext cx="1500000" cy="30000"/>
          </a:xfrm>
          <a:prstGeom prst="rect">
            <a:avLst/>
          </a:prstGeom>
          <a:solidFill>
            <a:srgbClr val="C9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96000" y="3500000"/>
            <a:ext cx="4996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C9A55C"/>
                </a:solidFill>
                <a:latin typeface="Georgia"/>
              </a:rPr>
              <a:t>T. rex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96000" y="1500000"/>
            <a:ext cx="4996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1">
                <a:solidFill>
                  <a:srgbClr val="F4EFE6"/>
                </a:solidFill>
                <a:latin typeface="Georgia"/>
              </a:rPr>
              <a:t>South Dakota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96000" y="2350000"/>
            <a:ext cx="4996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C9A55C"/>
                </a:solidFill>
                <a:latin typeface="Georgia"/>
              </a:rPr>
              <a:t>USA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756000" y="3200000"/>
            <a:ext cx="1500000" cy="30000"/>
          </a:xfrm>
          <a:prstGeom prst="rect">
            <a:avLst/>
          </a:prstGeom>
          <a:solidFill>
            <a:srgbClr val="C9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96000" y="3350000"/>
            <a:ext cx="4996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F4EFE6"/>
                </a:solidFill>
                <a:latin typeface="Georgia"/>
              </a:rPr>
              <a:t>1987  ·  Stan Sacrison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6000" y="4000000"/>
            <a:ext cx="4996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F4EFE6"/>
                </a:solidFill>
                <a:latin typeface="Georgia"/>
              </a:rPr>
              <a:t>1992  ·  Black Hills Institute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96000" y="1200000"/>
            <a:ext cx="4996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000" b="1">
                <a:solidFill>
                  <a:srgbClr val="F4EFE6"/>
                </a:solidFill>
                <a:latin typeface="Georgia"/>
              </a:rPr>
              <a:t>12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96000" y="2750000"/>
            <a:ext cx="4996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000" b="1">
                <a:solidFill>
                  <a:srgbClr val="F4EFE6"/>
                </a:solidFill>
                <a:latin typeface="Georgia"/>
              </a:rPr>
              <a:t>4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96000" y="4300000"/>
            <a:ext cx="4996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000" b="1">
                <a:solidFill>
                  <a:srgbClr val="F4EFE6"/>
                </a:solidFill>
                <a:latin typeface="Georgia"/>
              </a:rPr>
              <a:t>188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6000" y="5700000"/>
            <a:ext cx="1500000" cy="30000"/>
          </a:xfrm>
          <a:prstGeom prst="rect">
            <a:avLst/>
          </a:prstGeom>
          <a:solidFill>
            <a:srgbClr val="C9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96000" y="1900000"/>
            <a:ext cx="4996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600" b="1">
                <a:solidFill>
                  <a:srgbClr val="F4EFE6"/>
                </a:solidFill>
                <a:latin typeface="Georgia"/>
              </a:rPr>
              <a:t>30 000 h</a:t>
            </a:r>
          </a:p>
        </p:txBody>
      </p:sp>
      <p:sp>
        <p:nvSpPr>
          <p:cNvPr id="4" name="Rectangle 3"/>
          <p:cNvSpPr/>
          <p:nvPr/>
        </p:nvSpPr>
        <p:spPr>
          <a:xfrm>
            <a:off x="6756000" y="3300000"/>
            <a:ext cx="1500000" cy="30000"/>
          </a:xfrm>
          <a:prstGeom prst="rect">
            <a:avLst/>
          </a:prstGeom>
          <a:solidFill>
            <a:srgbClr val="C9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96000" y="3400000"/>
            <a:ext cx="4996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C9A55C"/>
                </a:solidFill>
                <a:latin typeface="Georgia"/>
              </a:rPr>
              <a:t>Black Hills Institute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96000" y="1500000"/>
            <a:ext cx="4996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000" b="1">
                <a:solidFill>
                  <a:srgbClr val="F4EFE6"/>
                </a:solidFill>
                <a:latin typeface="Georgia"/>
              </a:rPr>
              <a:t>30 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96000" y="2800000"/>
            <a:ext cx="4996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F4EFE6"/>
                </a:solidFill>
                <a:latin typeface="Georgia"/>
              </a:rPr>
              <a:t>≈ 35 000 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56000" y="4100000"/>
            <a:ext cx="1500000" cy="30000"/>
          </a:xfrm>
          <a:prstGeom prst="rect">
            <a:avLst/>
          </a:prstGeom>
          <a:solidFill>
            <a:srgbClr val="C9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96000" y="1700000"/>
            <a:ext cx="4996000" cy="1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0" b="1">
                <a:solidFill>
                  <a:srgbClr val="F4EFE6"/>
                </a:solidFill>
                <a:latin typeface="Georgia"/>
              </a:rPr>
              <a:t>1 /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756000" y="3400000"/>
            <a:ext cx="1500000" cy="30000"/>
          </a:xfrm>
          <a:prstGeom prst="rect">
            <a:avLst/>
          </a:prstGeom>
          <a:solidFill>
            <a:srgbClr val="C9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96000" y="3500000"/>
            <a:ext cx="4996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0">
                <a:solidFill>
                  <a:srgbClr val="C9A55C"/>
                </a:solidFill>
                <a:latin typeface="Georgia"/>
              </a:rPr>
              <a:t>+ 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0000" y="3900000"/>
            <a:ext cx="1000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0" b="1">
                <a:solidFill>
                  <a:srgbClr val="F4EFE6"/>
                </a:solidFill>
                <a:latin typeface="Georgia"/>
              </a:rPr>
              <a:t>30 000 000 €</a:t>
            </a:r>
          </a:p>
        </p:txBody>
      </p:sp>
      <p:sp>
        <p:nvSpPr>
          <p:cNvPr id="4" name="Rectangle 3"/>
          <p:cNvSpPr/>
          <p:nvPr/>
        </p:nvSpPr>
        <p:spPr>
          <a:xfrm>
            <a:off x="760000" y="5250000"/>
            <a:ext cx="1800000" cy="30000"/>
          </a:xfrm>
          <a:prstGeom prst="rect">
            <a:avLst/>
          </a:prstGeom>
          <a:solidFill>
            <a:srgbClr val="C9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5350000"/>
            <a:ext cx="10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C9A55C"/>
                </a:solidFill>
                <a:latin typeface="Georgia"/>
              </a:rPr>
              <a:t>Christie's  ·  New York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