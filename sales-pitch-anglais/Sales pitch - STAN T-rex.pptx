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— Introduction</a:t>
            </a:r>
          </a:p>
          <a:p/>
          <a:p>
            <a:r>
              <a:t>Photo : Stan, National Museum of Nature and Science, Tokyo (Wikimedia Commons)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— FEATURE : âge</a:t>
            </a:r>
          </a:p>
          <a:p/>
          <a:p>
            <a:r>
              <a:t>Photo : Stan Skull Tyrannosaurus rex (Wikimedia Commons)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— FEATURE : origine</a:t>
            </a:r>
          </a:p>
          <a:p/>
          <a:p>
            <a:r>
              <a:t>Photo : Hell Creek State Park (Wikimedia Commons)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— FEATURE : taille</a:t>
            </a:r>
          </a:p>
          <a:p/>
          <a:p>
            <a:r>
              <a:t>Photo : T. rex, Smithsonian NMNH, Washington (Wikimedia Commons)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— ADVANTAGE : authentique et complet</a:t>
            </a:r>
          </a:p>
          <a:p/>
          <a:p>
            <a:r>
              <a:t>Photo : Spinophorosaurus digsite (Wikimedia Commons)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— ADVANTAGE : spectaculaire</a:t>
            </a:r>
          </a:p>
          <a:p/>
          <a:p>
            <a:r>
              <a:t>Photo : T. rex Stan skull (Wikimedia Commons)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— BENEFIT : prestige, visiteurs, image</a:t>
            </a:r>
          </a:p>
          <a:p/>
          <a:p>
            <a:r>
              <a:t>Photo : Natural History Museum of Los Angeles County (Wikimedia Commons)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 — Prix et conclusion</a:t>
            </a:r>
          </a:p>
          <a:p/>
          <a:p>
            <a:r>
              <a:t>Photo : Stan cast, New Mexico Museum of Natural History, Tkracinski, CC BY-SA 4.0 (Wikimedia Commons)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D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_full_19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0000" y="4200000"/>
            <a:ext cx="800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800" b="1">
                <a:solidFill>
                  <a:srgbClr val="F4EFE6"/>
                </a:solidFill>
                <a:latin typeface="Georgia"/>
              </a:rPr>
              <a:t>STAN</a:t>
            </a:r>
          </a:p>
        </p:txBody>
      </p:sp>
      <p:sp>
        <p:nvSpPr>
          <p:cNvPr id="4" name="Rectangle 3"/>
          <p:cNvSpPr/>
          <p:nvPr/>
        </p:nvSpPr>
        <p:spPr>
          <a:xfrm>
            <a:off x="760000" y="5450000"/>
            <a:ext cx="1800000" cy="30000"/>
          </a:xfrm>
          <a:prstGeom prst="rect">
            <a:avLst/>
          </a:prstGeom>
          <a:solidFill>
            <a:srgbClr val="C9A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5550000"/>
            <a:ext cx="80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C9A55C"/>
                </a:solidFill>
                <a:latin typeface="Georgia"/>
              </a:rPr>
              <a:t>T. rex  ·  Christie's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D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_skull2_9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96000" y="1900000"/>
            <a:ext cx="5696000" cy="1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400" b="1">
                <a:solidFill>
                  <a:srgbClr val="F4EFE6"/>
                </a:solidFill>
                <a:latin typeface="Georgia"/>
              </a:rPr>
              <a:t>− 67 000 000</a:t>
            </a:r>
          </a:p>
        </p:txBody>
      </p:sp>
      <p:sp>
        <p:nvSpPr>
          <p:cNvPr id="4" name="Rectangle 3"/>
          <p:cNvSpPr/>
          <p:nvPr/>
        </p:nvSpPr>
        <p:spPr>
          <a:xfrm>
            <a:off x="6756000" y="3400000"/>
            <a:ext cx="1500000" cy="30000"/>
          </a:xfrm>
          <a:prstGeom prst="rect">
            <a:avLst/>
          </a:prstGeom>
          <a:solidFill>
            <a:srgbClr val="C9A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96000" y="3500000"/>
            <a:ext cx="4996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C9A55C"/>
                </a:solidFill>
                <a:latin typeface="Georgia"/>
              </a:rPr>
              <a:t>T. rex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D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_land_9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96000" y="1500000"/>
            <a:ext cx="4996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400" b="1">
                <a:solidFill>
                  <a:srgbClr val="F4EFE6"/>
                </a:solidFill>
                <a:latin typeface="Georgia"/>
              </a:rPr>
              <a:t>South Dakota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96000" y="2350000"/>
            <a:ext cx="4996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C9A55C"/>
                </a:solidFill>
                <a:latin typeface="Georgia"/>
              </a:rPr>
              <a:t>USA</a:t>
            </a:r>
          </a:p>
        </p:txBody>
      </p:sp>
      <p:sp>
        <p:nvSpPr>
          <p:cNvPr id="5" name="Rectangle 4"/>
          <p:cNvSpPr/>
          <p:nvPr/>
        </p:nvSpPr>
        <p:spPr>
          <a:xfrm>
            <a:off x="6756000" y="3200000"/>
            <a:ext cx="1500000" cy="30000"/>
          </a:xfrm>
          <a:prstGeom prst="rect">
            <a:avLst/>
          </a:prstGeom>
          <a:solidFill>
            <a:srgbClr val="C9A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96000" y="3350000"/>
            <a:ext cx="4996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F4EFE6"/>
                </a:solidFill>
                <a:latin typeface="Georgia"/>
              </a:rPr>
              <a:t>1987  ·  Stan Sacrison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96000" y="4000000"/>
            <a:ext cx="4996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F4EFE6"/>
                </a:solidFill>
                <a:latin typeface="Georgia"/>
              </a:rPr>
              <a:t>1992  ·  Black Hills Institute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D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_scale_9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96000" y="1200000"/>
            <a:ext cx="4996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6000" b="1">
                <a:solidFill>
                  <a:srgbClr val="F4EFE6"/>
                </a:solidFill>
                <a:latin typeface="Georgia"/>
              </a:rPr>
              <a:t>12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96000" y="2750000"/>
            <a:ext cx="4996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6000" b="1">
                <a:solidFill>
                  <a:srgbClr val="F4EFE6"/>
                </a:solidFill>
                <a:latin typeface="Georgia"/>
              </a:rPr>
              <a:t>4 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96000" y="4300000"/>
            <a:ext cx="4996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6000" b="1">
                <a:solidFill>
                  <a:srgbClr val="F4EFE6"/>
                </a:solidFill>
                <a:latin typeface="Georgia"/>
              </a:rPr>
              <a:t>188</a:t>
            </a:r>
          </a:p>
        </p:txBody>
      </p:sp>
      <p:sp>
        <p:nvSpPr>
          <p:cNvPr id="6" name="Rectangle 5"/>
          <p:cNvSpPr/>
          <p:nvPr/>
        </p:nvSpPr>
        <p:spPr>
          <a:xfrm>
            <a:off x="6756000" y="5700000"/>
            <a:ext cx="1500000" cy="30000"/>
          </a:xfrm>
          <a:prstGeom prst="rect">
            <a:avLst/>
          </a:prstGeom>
          <a:solidFill>
            <a:srgbClr val="C9A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D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_dig_9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96000" y="1900000"/>
            <a:ext cx="4996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6600" b="1">
                <a:solidFill>
                  <a:srgbClr val="F4EFE6"/>
                </a:solidFill>
                <a:latin typeface="Georgia"/>
              </a:rPr>
              <a:t>30 000 h</a:t>
            </a:r>
          </a:p>
        </p:txBody>
      </p:sp>
      <p:sp>
        <p:nvSpPr>
          <p:cNvPr id="4" name="Rectangle 3"/>
          <p:cNvSpPr/>
          <p:nvPr/>
        </p:nvSpPr>
        <p:spPr>
          <a:xfrm>
            <a:off x="6756000" y="3300000"/>
            <a:ext cx="1500000" cy="30000"/>
          </a:xfrm>
          <a:prstGeom prst="rect">
            <a:avLst/>
          </a:prstGeom>
          <a:solidFill>
            <a:srgbClr val="C9A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96000" y="3400000"/>
            <a:ext cx="4996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C9A55C"/>
                </a:solidFill>
                <a:latin typeface="Georgia"/>
              </a:rPr>
              <a:t>Black Hills Institute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D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_skull_9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96000" y="1500000"/>
            <a:ext cx="4996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6000" b="1">
                <a:solidFill>
                  <a:srgbClr val="F4EFE6"/>
                </a:solidFill>
                <a:latin typeface="Georgia"/>
              </a:rPr>
              <a:t>30 cm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96000" y="2800000"/>
            <a:ext cx="4996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800" b="1">
                <a:solidFill>
                  <a:srgbClr val="F4EFE6"/>
                </a:solidFill>
                <a:latin typeface="Georgia"/>
              </a:rPr>
              <a:t>≈ 35 000 N</a:t>
            </a:r>
          </a:p>
        </p:txBody>
      </p:sp>
      <p:sp>
        <p:nvSpPr>
          <p:cNvPr id="5" name="Rectangle 4"/>
          <p:cNvSpPr/>
          <p:nvPr/>
        </p:nvSpPr>
        <p:spPr>
          <a:xfrm>
            <a:off x="6756000" y="4100000"/>
            <a:ext cx="1500000" cy="30000"/>
          </a:xfrm>
          <a:prstGeom prst="rect">
            <a:avLst/>
          </a:prstGeom>
          <a:solidFill>
            <a:srgbClr val="C9A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D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_hall_9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96000" y="1700000"/>
            <a:ext cx="4996000" cy="1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800" b="1">
                <a:solidFill>
                  <a:srgbClr val="F4EFE6"/>
                </a:solidFill>
                <a:latin typeface="Georgia"/>
              </a:rPr>
              <a:t>1 / 1</a:t>
            </a:r>
          </a:p>
        </p:txBody>
      </p:sp>
      <p:sp>
        <p:nvSpPr>
          <p:cNvPr id="4" name="Rectangle 3"/>
          <p:cNvSpPr/>
          <p:nvPr/>
        </p:nvSpPr>
        <p:spPr>
          <a:xfrm>
            <a:off x="6756000" y="3400000"/>
            <a:ext cx="1500000" cy="30000"/>
          </a:xfrm>
          <a:prstGeom prst="rect">
            <a:avLst/>
          </a:prstGeom>
          <a:solidFill>
            <a:srgbClr val="C9A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96000" y="3500000"/>
            <a:ext cx="4996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0">
                <a:solidFill>
                  <a:srgbClr val="C9A55C"/>
                </a:solidFill>
                <a:latin typeface="Georgia"/>
              </a:rPr>
              <a:t>+ ∞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D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_mv_19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0000" y="3900000"/>
            <a:ext cx="1000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200" b="1">
                <a:solidFill>
                  <a:srgbClr val="F4EFE6"/>
                </a:solidFill>
                <a:latin typeface="Georgia"/>
              </a:rPr>
              <a:t>30 000 000 €</a:t>
            </a:r>
          </a:p>
        </p:txBody>
      </p:sp>
      <p:sp>
        <p:nvSpPr>
          <p:cNvPr id="4" name="Rectangle 3"/>
          <p:cNvSpPr/>
          <p:nvPr/>
        </p:nvSpPr>
        <p:spPr>
          <a:xfrm>
            <a:off x="760000" y="5250000"/>
            <a:ext cx="1800000" cy="30000"/>
          </a:xfrm>
          <a:prstGeom prst="rect">
            <a:avLst/>
          </a:prstGeom>
          <a:solidFill>
            <a:srgbClr val="C9A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5350000"/>
            <a:ext cx="10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C9A55C"/>
                </a:solidFill>
                <a:latin typeface="Georgia"/>
              </a:rPr>
              <a:t>Christie's  ·  New York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